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</p:sldMasterIdLst>
  <p:notesMasterIdLst>
    <p:notesMasterId r:id="rId10"/>
  </p:notesMasterIdLst>
  <p:sldIdLst>
    <p:sldId id="285" r:id="rId2"/>
    <p:sldId id="256" r:id="rId3"/>
    <p:sldId id="298" r:id="rId4"/>
    <p:sldId id="299" r:id="rId5"/>
    <p:sldId id="300" r:id="rId6"/>
    <p:sldId id="301" r:id="rId7"/>
    <p:sldId id="303" r:id="rId8"/>
    <p:sldId id="302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49"/>
    <p:restoredTop sz="94647"/>
  </p:normalViewPr>
  <p:slideViewPr>
    <p:cSldViewPr snapToGrid="0">
      <p:cViewPr varScale="1">
        <p:scale>
          <a:sx n="150" d="100"/>
          <a:sy n="150" d="100"/>
        </p:scale>
        <p:origin x="168" y="9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84e642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84e642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843be785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843be785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843be785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843be785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843be785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f843be785a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200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txBody>
          <a:bodyPr wrap="square" lIns="76200" tIns="38100" rIns="76200" bIns="381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201" name="s201"/>
          <p:cNvSpPr/>
          <p:nvPr/>
        </p:nvSpPr>
        <p:spPr>
          <a:xfrm>
            <a:off x="317500" y="1778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en-US" sz="800" b="1" spc="180" dirty="0">
                <a:solidFill>
                  <a:srgbClr val="447000"/>
                </a:solidFill>
                <a:latin typeface="Verdana"/>
              </a:rPr>
              <a:t>NEMOTRON VOICE AGENT</a:t>
            </a:r>
          </a:p>
        </p:txBody>
      </p:sp>
      <p:sp>
        <p:nvSpPr>
          <p:cNvPr id="202" name="s202"/>
          <p:cNvSpPr/>
          <p:nvPr/>
        </p:nvSpPr>
        <p:spPr>
          <a:xfrm>
            <a:off x="317500" y="1524000"/>
            <a:ext cx="7620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rmAutofit/>
          </a:bodyPr>
          <a:lstStyle/>
          <a:p>
            <a:pPr algn="l">
              <a:buNone/>
            </a:pPr>
            <a:r>
              <a:rPr lang="en-US" sz="3500" b="1" dirty="0">
                <a:solidFill>
                  <a:srgbClr val="1A1A1A"/>
                </a:solidFill>
                <a:latin typeface="Verdana"/>
              </a:rPr>
              <a:t>Nemotron Voice Agent</a:t>
            </a:r>
          </a:p>
        </p:txBody>
      </p:sp>
      <p:sp>
        <p:nvSpPr>
          <p:cNvPr id="203" name="s203"/>
          <p:cNvSpPr/>
          <p:nvPr/>
        </p:nvSpPr>
        <p:spPr>
          <a:xfrm>
            <a:off x="317500" y="2362200"/>
            <a:ext cx="812800" cy="50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txBody>
          <a:bodyPr wrap="square" lIns="76200" tIns="38100" rIns="76200" bIns="381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204" name="s204"/>
          <p:cNvSpPr/>
          <p:nvPr/>
        </p:nvSpPr>
        <p:spPr>
          <a:xfrm>
            <a:off x="317500" y="2540000"/>
            <a:ext cx="7112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</a:pPr>
            <a:r>
              <a:rPr lang="en-US" sz="1400" dirty="0">
                <a:solidFill>
                  <a:srgbClr val="6B7280"/>
                </a:solidFill>
                <a:latin typeface="Verdana"/>
              </a:rPr>
              <a:t>Frontend / Backend agent — architecture, request flow, and cluster deployment</a:t>
            </a:r>
          </a:p>
        </p:txBody>
      </p:sp>
      <p:sp>
        <p:nvSpPr>
          <p:cNvPr id="205" name="s205"/>
          <p:cNvSpPr/>
          <p:nvPr/>
        </p:nvSpPr>
        <p:spPr>
          <a:xfrm>
            <a:off x="317500" y="3556000"/>
            <a:ext cx="14224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E4C8"/>
            </a:solidFill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buNone/>
            </a:pPr>
            <a:r>
              <a:rPr lang="en-US" sz="950" b="1" dirty="0">
                <a:solidFill>
                  <a:srgbClr val="447000"/>
                </a:solidFill>
                <a:latin typeface="Verdana"/>
              </a:rPr>
              <a:t>chart 0.1.103</a:t>
            </a:r>
          </a:p>
        </p:txBody>
      </p:sp>
      <p:sp>
        <p:nvSpPr>
          <p:cNvPr id="206" name="s206"/>
          <p:cNvSpPr/>
          <p:nvPr/>
        </p:nvSpPr>
        <p:spPr>
          <a:xfrm>
            <a:off x="1866900" y="3556000"/>
            <a:ext cx="12954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E4C8"/>
            </a:solidFill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buNone/>
            </a:pPr>
            <a:r>
              <a:rPr lang="en-US" sz="950" b="1" dirty="0">
                <a:solidFill>
                  <a:srgbClr val="447000"/>
                </a:solidFill>
                <a:latin typeface="Verdana"/>
              </a:rPr>
              <a:t>app 2.0.32</a:t>
            </a:r>
          </a:p>
        </p:txBody>
      </p:sp>
      <p:sp>
        <p:nvSpPr>
          <p:cNvPr id="207" name="s207"/>
          <p:cNvSpPr/>
          <p:nvPr/>
        </p:nvSpPr>
        <p:spPr>
          <a:xfrm>
            <a:off x="3289300" y="3556000"/>
            <a:ext cx="24892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E4C8"/>
            </a:solidFill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buNone/>
            </a:pPr>
            <a:r>
              <a:rPr lang="en-US" sz="950" b="1" dirty="0">
                <a:solidFill>
                  <a:srgbClr val="447000"/>
                </a:solidFill>
                <a:latin typeface="Verdana"/>
              </a:rPr>
              <a:t>one 8×H100 node · 5 replicas</a:t>
            </a:r>
          </a:p>
        </p:txBody>
      </p:sp>
      <p:sp>
        <p:nvSpPr>
          <p:cNvPr id="208" name="s208"/>
          <p:cNvSpPr/>
          <p:nvPr/>
        </p:nvSpPr>
        <p:spPr>
          <a:xfrm>
            <a:off x="317500" y="4597400"/>
            <a:ext cx="8509000" cy="127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wrap="square" lIns="76200" tIns="38100" rIns="76200" bIns="381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209" name="s209"/>
          <p:cNvSpPr/>
          <p:nvPr/>
        </p:nvSpPr>
        <p:spPr>
          <a:xfrm>
            <a:off x="317500" y="4699000"/>
            <a:ext cx="51435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</a:pPr>
            <a:r>
              <a:rPr lang="en-US" sz="900" dirty="0">
                <a:solidFill>
                  <a:srgbClr val="6B7280"/>
                </a:solidFill>
                <a:latin typeface="Verdana"/>
              </a:rPr>
              <a:t>Astra + NVCF deployment</a:t>
            </a:r>
          </a:p>
        </p:txBody>
      </p:sp>
      <p:sp>
        <p:nvSpPr>
          <p:cNvPr id="210" name="s210"/>
          <p:cNvSpPr/>
          <p:nvPr/>
        </p:nvSpPr>
        <p:spPr>
          <a:xfrm>
            <a:off x="5651500" y="46990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</a:pPr>
            <a:r>
              <a:rPr lang="en-US" sz="900" dirty="0">
                <a:solidFill>
                  <a:srgbClr val="6B7280"/>
                </a:solidFill>
                <a:latin typeface="Verdana"/>
              </a:rPr>
              <a:t>Nemotron Voice Agent  ·  generated 2026-08-26</a:t>
            </a:r>
          </a:p>
        </p:txBody>
      </p:sp>
    </p:spTree>
    <p:extLst>
      <p:ext uri="{BB962C8B-B14F-4D97-AF65-F5344CB8AC3E}">
        <p14:creationId xmlns:p14="http://schemas.microsoft.com/office/powerpoint/2010/main" val="3764202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600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601" name="s601"/>
          <p:cNvSpPr/>
          <p:nvPr/>
        </p:nvSpPr>
        <p:spPr>
          <a:xfrm>
            <a:off x="317500" y="15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650" b="1" spc="180" dirty="0">
                <a:solidFill>
                  <a:srgbClr val="447000"/>
                </a:solidFill>
                <a:latin typeface="Verdana"/>
              </a:rPr>
              <a:t>NEMOTRON VOICE AGENT</a:t>
            </a:r>
          </a:p>
        </p:txBody>
      </p:sp>
      <p:sp>
        <p:nvSpPr>
          <p:cNvPr id="602" name="s602"/>
          <p:cNvSpPr/>
          <p:nvPr/>
        </p:nvSpPr>
        <p:spPr>
          <a:xfrm>
            <a:off x="317500" y="330200"/>
            <a:ext cx="596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Verdana"/>
              </a:rPr>
              <a:t>Deployment request flow</a:t>
            </a:r>
          </a:p>
        </p:txBody>
      </p:sp>
      <p:sp>
        <p:nvSpPr>
          <p:cNvPr id="603" name="s603"/>
          <p:cNvSpPr/>
          <p:nvPr/>
        </p:nvSpPr>
        <p:spPr>
          <a:xfrm>
            <a:off x="317500" y="660400"/>
            <a:ext cx="5969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Verdana"/>
              </a:rPr>
              <a:t>Many concurrent sessions, five interchangeable replicas, one shared state</a:t>
            </a:r>
          </a:p>
        </p:txBody>
      </p:sp>
      <p:sp>
        <p:nvSpPr>
          <p:cNvPr id="604" name="s604"/>
          <p:cNvSpPr/>
          <p:nvPr/>
        </p:nvSpPr>
        <p:spPr>
          <a:xfrm>
            <a:off x="6350000" y="330200"/>
            <a:ext cx="2476500" cy="431800"/>
          </a:xfrm>
          <a:prstGeom prst="roundRect">
            <a:avLst>
              <a:gd name="adj" fmla="val 5000"/>
            </a:avLst>
          </a:prstGeom>
          <a:solidFill>
            <a:srgbClr val="EFF7E0"/>
          </a:solidFill>
          <a:ln w="12700">
            <a:noFill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447000"/>
                </a:solidFill>
                <a:latin typeface="Verdana"/>
              </a:rPr>
              <a:t>one 8×H100 node  ·  5 app replicas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any pod can serve any session</a:t>
            </a:r>
          </a:p>
        </p:txBody>
      </p:sp>
      <p:sp>
        <p:nvSpPr>
          <p:cNvPr id="605" name="s605"/>
          <p:cNvSpPr/>
          <p:nvPr/>
        </p:nvSpPr>
        <p:spPr>
          <a:xfrm>
            <a:off x="317500" y="8890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750" b="1" spc="80" dirty="0">
                <a:solidFill>
                  <a:srgbClr val="447000"/>
                </a:solidFill>
                <a:latin typeface="Verdana"/>
              </a:rPr>
              <a:t>1  ·  REQUESTS FAN OUT ACROSS REPLICAS</a:t>
            </a:r>
          </a:p>
        </p:txBody>
      </p:sp>
      <p:sp>
        <p:nvSpPr>
          <p:cNvPr id="606" name="s606"/>
          <p:cNvSpPr/>
          <p:nvPr/>
        </p:nvSpPr>
        <p:spPr>
          <a:xfrm>
            <a:off x="317500" y="1092200"/>
            <a:ext cx="1397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650" b="1" spc="60" dirty="0">
                <a:solidFill>
                  <a:srgbClr val="447000"/>
                </a:solidFill>
                <a:latin typeface="Verdana"/>
              </a:rPr>
              <a:t>CONCURRENT SESSIONS</a:t>
            </a:r>
          </a:p>
        </p:txBody>
      </p:sp>
      <p:sp>
        <p:nvSpPr>
          <p:cNvPr id="607" name="s607"/>
          <p:cNvSpPr/>
          <p:nvPr/>
        </p:nvSpPr>
        <p:spPr>
          <a:xfrm>
            <a:off x="1943100" y="1092200"/>
            <a:ext cx="13208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650" b="1" spc="60" dirty="0">
                <a:solidFill>
                  <a:srgbClr val="447000"/>
                </a:solidFill>
                <a:latin typeface="Verdana"/>
              </a:rPr>
              <a:t>INGRESS</a:t>
            </a:r>
          </a:p>
        </p:txBody>
      </p:sp>
      <p:sp>
        <p:nvSpPr>
          <p:cNvPr id="608" name="s608"/>
          <p:cNvSpPr/>
          <p:nvPr/>
        </p:nvSpPr>
        <p:spPr>
          <a:xfrm>
            <a:off x="3492500" y="109220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650" b="1" spc="60" dirty="0">
                <a:solidFill>
                  <a:srgbClr val="447000"/>
                </a:solidFill>
                <a:latin typeface="Verdana"/>
              </a:rPr>
              <a:t>APP POD REPLICAS</a:t>
            </a:r>
          </a:p>
        </p:txBody>
      </p:sp>
      <p:sp>
        <p:nvSpPr>
          <p:cNvPr id="609" name="s609"/>
          <p:cNvSpPr/>
          <p:nvPr/>
        </p:nvSpPr>
        <p:spPr>
          <a:xfrm>
            <a:off x="5626100" y="1092200"/>
            <a:ext cx="32004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650" b="1" spc="60" dirty="0">
                <a:solidFill>
                  <a:srgbClr val="447000"/>
                </a:solidFill>
                <a:latin typeface="Verdana"/>
              </a:rPr>
              <a:t>SHARED, OUTSIDE ANY POD</a:t>
            </a:r>
          </a:p>
        </p:txBody>
      </p:sp>
      <p:sp>
        <p:nvSpPr>
          <p:cNvPr id="610" name="s610"/>
          <p:cNvSpPr/>
          <p:nvPr/>
        </p:nvSpPr>
        <p:spPr>
          <a:xfrm>
            <a:off x="317500" y="1574800"/>
            <a:ext cx="1397000" cy="381000"/>
          </a:xfrm>
          <a:prstGeom prst="roundRect">
            <a:avLst>
              <a:gd name="adj" fmla="val 5000"/>
            </a:avLst>
          </a:prstGeom>
          <a:solidFill>
            <a:srgbClr val="E8F0FB"/>
          </a:solidFill>
          <a:ln w="1905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250A8"/>
                </a:solidFill>
                <a:latin typeface="Verdana"/>
              </a:rPr>
              <a:t>Session A · turn 1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1250A8"/>
                </a:solidFill>
                <a:latin typeface="Verdana"/>
              </a:rPr>
              <a:t>browser · WebSocket</a:t>
            </a:r>
          </a:p>
        </p:txBody>
      </p:sp>
      <p:sp>
        <p:nvSpPr>
          <p:cNvPr id="611" name="s611"/>
          <p:cNvSpPr/>
          <p:nvPr/>
        </p:nvSpPr>
        <p:spPr>
          <a:xfrm>
            <a:off x="1739900" y="1708150"/>
            <a:ext cx="127000" cy="11430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612" name="s612"/>
          <p:cNvSpPr/>
          <p:nvPr/>
        </p:nvSpPr>
        <p:spPr>
          <a:xfrm>
            <a:off x="317500" y="2057400"/>
            <a:ext cx="1397000" cy="381000"/>
          </a:xfrm>
          <a:prstGeom prst="roundRect">
            <a:avLst>
              <a:gd name="adj" fmla="val 5000"/>
            </a:avLst>
          </a:prstGeom>
          <a:solidFill>
            <a:srgbClr val="E8F0FB"/>
          </a:solidFill>
          <a:ln w="1905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250A8"/>
                </a:solidFill>
                <a:latin typeface="Verdana"/>
              </a:rPr>
              <a:t>Session B · turn 4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1250A8"/>
                </a:solidFill>
                <a:latin typeface="Verdana"/>
              </a:rPr>
              <a:t>browser · WebSocket</a:t>
            </a:r>
          </a:p>
        </p:txBody>
      </p:sp>
      <p:sp>
        <p:nvSpPr>
          <p:cNvPr id="613" name="s613"/>
          <p:cNvSpPr/>
          <p:nvPr/>
        </p:nvSpPr>
        <p:spPr>
          <a:xfrm>
            <a:off x="1739900" y="2190750"/>
            <a:ext cx="127000" cy="11430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614" name="s614"/>
          <p:cNvSpPr/>
          <p:nvPr/>
        </p:nvSpPr>
        <p:spPr>
          <a:xfrm>
            <a:off x="317500" y="2540000"/>
            <a:ext cx="1397000" cy="381000"/>
          </a:xfrm>
          <a:prstGeom prst="roundRect">
            <a:avLst>
              <a:gd name="adj" fmla="val 5000"/>
            </a:avLst>
          </a:prstGeom>
          <a:solidFill>
            <a:srgbClr val="E8F0FB"/>
          </a:solidFill>
          <a:ln w="1905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250A8"/>
                </a:solidFill>
                <a:latin typeface="Verdana"/>
              </a:rPr>
              <a:t>Session C · turn 2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1250A8"/>
                </a:solidFill>
                <a:latin typeface="Verdana"/>
              </a:rPr>
              <a:t>browser · WebSocket</a:t>
            </a:r>
          </a:p>
        </p:txBody>
      </p:sp>
      <p:sp>
        <p:nvSpPr>
          <p:cNvPr id="615" name="s615"/>
          <p:cNvSpPr/>
          <p:nvPr/>
        </p:nvSpPr>
        <p:spPr>
          <a:xfrm>
            <a:off x="1739900" y="2673350"/>
            <a:ext cx="127000" cy="11430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616" name="s616"/>
          <p:cNvSpPr/>
          <p:nvPr/>
        </p:nvSpPr>
        <p:spPr>
          <a:xfrm>
            <a:off x="1943100" y="1320800"/>
            <a:ext cx="1320800" cy="1854200"/>
          </a:xfrm>
          <a:prstGeom prst="roundRect">
            <a:avLst>
              <a:gd name="adj" fmla="val 5000"/>
            </a:avLst>
          </a:prstGeom>
          <a:solidFill>
            <a:srgbClr val="EDE7F8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Load balancer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hands the stream to whichever replica is free · not sticky</a:t>
            </a:r>
          </a:p>
        </p:txBody>
      </p:sp>
      <p:sp>
        <p:nvSpPr>
          <p:cNvPr id="617" name="s617"/>
          <p:cNvSpPr/>
          <p:nvPr/>
        </p:nvSpPr>
        <p:spPr>
          <a:xfrm>
            <a:off x="3492500" y="1320800"/>
            <a:ext cx="1905000" cy="330200"/>
          </a:xfrm>
          <a:prstGeom prst="roundRect">
            <a:avLst>
              <a:gd name="adj" fmla="val 5000"/>
            </a:avLst>
          </a:prstGeom>
          <a:solidFill>
            <a:srgbClr val="DCF0EC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app-pod-1</a:t>
            </a:r>
          </a:p>
        </p:txBody>
      </p:sp>
      <p:sp>
        <p:nvSpPr>
          <p:cNvPr id="618" name="s618"/>
          <p:cNvSpPr/>
          <p:nvPr/>
        </p:nvSpPr>
        <p:spPr>
          <a:xfrm>
            <a:off x="3289300" y="1428750"/>
            <a:ext cx="127000" cy="11430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619" name="s619"/>
          <p:cNvSpPr/>
          <p:nvPr/>
        </p:nvSpPr>
        <p:spPr>
          <a:xfrm>
            <a:off x="3492500" y="1701800"/>
            <a:ext cx="1905000" cy="330200"/>
          </a:xfrm>
          <a:prstGeom prst="roundRect">
            <a:avLst>
              <a:gd name="adj" fmla="val 5000"/>
            </a:avLst>
          </a:prstGeom>
          <a:solidFill>
            <a:srgbClr val="DCF0EC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app-pod-2</a:t>
            </a:r>
          </a:p>
        </p:txBody>
      </p:sp>
      <p:sp>
        <p:nvSpPr>
          <p:cNvPr id="620" name="s620"/>
          <p:cNvSpPr/>
          <p:nvPr/>
        </p:nvSpPr>
        <p:spPr>
          <a:xfrm>
            <a:off x="3289300" y="1809750"/>
            <a:ext cx="127000" cy="11430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621" name="s621"/>
          <p:cNvSpPr/>
          <p:nvPr/>
        </p:nvSpPr>
        <p:spPr>
          <a:xfrm>
            <a:off x="3492500" y="2082800"/>
            <a:ext cx="1905000" cy="330200"/>
          </a:xfrm>
          <a:prstGeom prst="roundRect">
            <a:avLst>
              <a:gd name="adj" fmla="val 5000"/>
            </a:avLst>
          </a:prstGeom>
          <a:solidFill>
            <a:srgbClr val="DFF0D8"/>
          </a:solidFill>
          <a:ln w="1905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app-pod-3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holds the finalize lock</a:t>
            </a:r>
          </a:p>
        </p:txBody>
      </p:sp>
      <p:sp>
        <p:nvSpPr>
          <p:cNvPr id="622" name="s622"/>
          <p:cNvSpPr/>
          <p:nvPr/>
        </p:nvSpPr>
        <p:spPr>
          <a:xfrm>
            <a:off x="3289300" y="2190750"/>
            <a:ext cx="127000" cy="11430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623" name="s623"/>
          <p:cNvSpPr/>
          <p:nvPr/>
        </p:nvSpPr>
        <p:spPr>
          <a:xfrm>
            <a:off x="3492500" y="2463800"/>
            <a:ext cx="1905000" cy="330200"/>
          </a:xfrm>
          <a:prstGeom prst="roundRect">
            <a:avLst>
              <a:gd name="adj" fmla="val 5000"/>
            </a:avLst>
          </a:prstGeom>
          <a:solidFill>
            <a:srgbClr val="DCF0EC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app-pod-4</a:t>
            </a:r>
          </a:p>
        </p:txBody>
      </p:sp>
      <p:sp>
        <p:nvSpPr>
          <p:cNvPr id="624" name="s624"/>
          <p:cNvSpPr/>
          <p:nvPr/>
        </p:nvSpPr>
        <p:spPr>
          <a:xfrm>
            <a:off x="3289300" y="2571750"/>
            <a:ext cx="127000" cy="11430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625" name="s625"/>
          <p:cNvSpPr/>
          <p:nvPr/>
        </p:nvSpPr>
        <p:spPr>
          <a:xfrm>
            <a:off x="3492500" y="2844800"/>
            <a:ext cx="1905000" cy="330200"/>
          </a:xfrm>
          <a:prstGeom prst="roundRect">
            <a:avLst>
              <a:gd name="adj" fmla="val 5000"/>
            </a:avLst>
          </a:prstGeom>
          <a:solidFill>
            <a:srgbClr val="DCF0EC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app-pod-5</a:t>
            </a:r>
          </a:p>
        </p:txBody>
      </p:sp>
      <p:sp>
        <p:nvSpPr>
          <p:cNvPr id="626" name="s626"/>
          <p:cNvSpPr/>
          <p:nvPr/>
        </p:nvSpPr>
        <p:spPr>
          <a:xfrm>
            <a:off x="3289300" y="2952750"/>
            <a:ext cx="127000" cy="11430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627" name="s627"/>
          <p:cNvSpPr/>
          <p:nvPr/>
        </p:nvSpPr>
        <p:spPr>
          <a:xfrm>
            <a:off x="5626100" y="1320800"/>
            <a:ext cx="3200400" cy="584200"/>
          </a:xfrm>
          <a:prstGeom prst="roundRect">
            <a:avLst>
              <a:gd name="adj" fmla="val 5000"/>
            </a:avLst>
          </a:prstGeom>
          <a:solidFill>
            <a:srgbClr val="D94F4F">
              <a:alpha val="22000"/>
            </a:srgbClr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Redis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the session lives here — config, last 64 frames, stream + consent flags</a:t>
            </a:r>
          </a:p>
        </p:txBody>
      </p:sp>
      <p:sp>
        <p:nvSpPr>
          <p:cNvPr id="628" name="s628"/>
          <p:cNvSpPr/>
          <p:nvPr/>
        </p:nvSpPr>
        <p:spPr>
          <a:xfrm>
            <a:off x="5524500" y="1555750"/>
            <a:ext cx="101600" cy="11430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629" name="s629"/>
          <p:cNvSpPr/>
          <p:nvPr/>
        </p:nvSpPr>
        <p:spPr>
          <a:xfrm>
            <a:off x="5626100" y="1955800"/>
            <a:ext cx="3200400" cy="584200"/>
          </a:xfrm>
          <a:prstGeom prst="roundRect">
            <a:avLst>
              <a:gd name="adj" fmla="val 5000"/>
            </a:avLst>
          </a:prstGeom>
          <a:solidFill>
            <a:srgbClr val="EFF7E0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GPU node · 8×H100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Lightning · Super 120B · Omni · Magpie TTS · Chatterbox TTS · Riva ASR</a:t>
            </a:r>
          </a:p>
        </p:txBody>
      </p:sp>
      <p:sp>
        <p:nvSpPr>
          <p:cNvPr id="630" name="s630"/>
          <p:cNvSpPr/>
          <p:nvPr/>
        </p:nvSpPr>
        <p:spPr>
          <a:xfrm>
            <a:off x="5524500" y="2190750"/>
            <a:ext cx="101600" cy="11430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631" name="s631"/>
          <p:cNvSpPr/>
          <p:nvPr/>
        </p:nvSpPr>
        <p:spPr>
          <a:xfrm>
            <a:off x="5626100" y="2590800"/>
            <a:ext cx="3200400" cy="584200"/>
          </a:xfrm>
          <a:prstGeom prst="roundRect">
            <a:avLst>
              <a:gd name="adj" fmla="val 5000"/>
            </a:avLst>
          </a:prstGeom>
          <a:solidFill>
            <a:srgbClr val="FDF0DC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Object storage → NGC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written once, after consent · stragglers swept up</a:t>
            </a:r>
          </a:p>
        </p:txBody>
      </p:sp>
      <p:sp>
        <p:nvSpPr>
          <p:cNvPr id="632" name="s632"/>
          <p:cNvSpPr/>
          <p:nvPr/>
        </p:nvSpPr>
        <p:spPr>
          <a:xfrm>
            <a:off x="5524500" y="2825750"/>
            <a:ext cx="101600" cy="11430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633" name="s633"/>
          <p:cNvSpPr/>
          <p:nvPr/>
        </p:nvSpPr>
        <p:spPr>
          <a:xfrm>
            <a:off x="317500" y="3327400"/>
            <a:ext cx="635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750" b="1" spc="80" dirty="0">
                <a:solidFill>
                  <a:srgbClr val="447000"/>
                </a:solidFill>
                <a:latin typeface="Verdana"/>
              </a:rPr>
              <a:t>2  ·  WHY A SESSION SURVIVES ANY REPLICA</a:t>
            </a:r>
          </a:p>
        </p:txBody>
      </p:sp>
      <p:sp>
        <p:nvSpPr>
          <p:cNvPr id="634" name="s634"/>
          <p:cNvSpPr/>
          <p:nvPr/>
        </p:nvSpPr>
        <p:spPr>
          <a:xfrm>
            <a:off x="317500" y="3530600"/>
            <a:ext cx="2051050" cy="762000"/>
          </a:xfrm>
          <a:prstGeom prst="roundRect">
            <a:avLst>
              <a:gd name="adj" fmla="val 5000"/>
            </a:avLst>
          </a:prstGeom>
          <a:solidFill>
            <a:srgbClr val="E8F0FB"/>
          </a:solidFill>
          <a:ln w="12700">
            <a:noFill/>
          </a:ln>
        </p:spPr>
        <p:txBody>
          <a:bodyPr wrap="square" lIns="88900" tIns="63500" rIns="88900" bIns="6350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447000"/>
                </a:solidFill>
                <a:latin typeface="Verdana"/>
              </a:rPr>
              <a:t>No sticky sessions</a:t>
            </a:r>
          </a:p>
          <a:p>
            <a:pPr algn="l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NVCF drops the cookie that pinned a user to one pod, so consecutive turns land anywhere.</a:t>
            </a:r>
          </a:p>
        </p:txBody>
      </p:sp>
      <p:sp>
        <p:nvSpPr>
          <p:cNvPr id="635" name="s635"/>
          <p:cNvSpPr/>
          <p:nvPr/>
        </p:nvSpPr>
        <p:spPr>
          <a:xfrm>
            <a:off x="2470150" y="3530600"/>
            <a:ext cx="2051050" cy="762000"/>
          </a:xfrm>
          <a:prstGeom prst="roundRect">
            <a:avLst>
              <a:gd name="adj" fmla="val 5000"/>
            </a:avLst>
          </a:prstGeom>
          <a:solidFill>
            <a:srgbClr val="DCF0EC"/>
          </a:solidFill>
          <a:ln w="12700">
            <a:noFill/>
          </a:ln>
        </p:spPr>
        <p:txBody>
          <a:bodyPr wrap="square" lIns="88900" tIns="63500" rIns="88900" bIns="6350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447000"/>
                </a:solidFill>
                <a:latin typeface="Verdana"/>
              </a:rPr>
              <a:t>State is external</a:t>
            </a:r>
          </a:p>
          <a:p>
            <a:pPr algn="l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Nothing a session needs is on a pod's local disk — Redis is the single source of truth.</a:t>
            </a:r>
          </a:p>
        </p:txBody>
      </p:sp>
      <p:sp>
        <p:nvSpPr>
          <p:cNvPr id="636" name="s636"/>
          <p:cNvSpPr/>
          <p:nvPr/>
        </p:nvSpPr>
        <p:spPr>
          <a:xfrm>
            <a:off x="4622800" y="3530600"/>
            <a:ext cx="2051050" cy="762000"/>
          </a:xfrm>
          <a:prstGeom prst="roundRect">
            <a:avLst>
              <a:gd name="adj" fmla="val 5000"/>
            </a:avLst>
          </a:prstGeom>
          <a:solidFill>
            <a:srgbClr val="EFF7E0"/>
          </a:solidFill>
          <a:ln w="12700">
            <a:noFill/>
          </a:ln>
        </p:spPr>
        <p:txBody>
          <a:bodyPr wrap="square" lIns="88900" tIns="63500" rIns="88900" bIns="6350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447000"/>
                </a:solidFill>
                <a:latin typeface="Verdana"/>
              </a:rPr>
              <a:t>Exactly one finalize</a:t>
            </a:r>
          </a:p>
          <a:p>
            <a:pPr algn="l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A lock across the five replicas means one pod archives the session; a sweeper retries the rest.</a:t>
            </a:r>
          </a:p>
        </p:txBody>
      </p:sp>
      <p:sp>
        <p:nvSpPr>
          <p:cNvPr id="637" name="s637"/>
          <p:cNvSpPr/>
          <p:nvPr/>
        </p:nvSpPr>
        <p:spPr>
          <a:xfrm>
            <a:off x="6775450" y="3530600"/>
            <a:ext cx="2051050" cy="762000"/>
          </a:xfrm>
          <a:prstGeom prst="roundRect">
            <a:avLst>
              <a:gd name="adj" fmla="val 5000"/>
            </a:avLst>
          </a:prstGeom>
          <a:solidFill>
            <a:srgbClr val="EDE7F8"/>
          </a:solidFill>
          <a:ln w="12700">
            <a:noFill/>
          </a:ln>
        </p:spPr>
        <p:txBody>
          <a:bodyPr wrap="square" lIns="88900" tIns="63500" rIns="88900" bIns="6350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447000"/>
                </a:solidFill>
                <a:latin typeface="Verdana"/>
              </a:rPr>
              <a:t>No hosted API calls</a:t>
            </a:r>
          </a:p>
          <a:p>
            <a:pPr algn="l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Every model runs on the same node, so a replica never leaves the cluster to answer.</a:t>
            </a:r>
          </a:p>
        </p:txBody>
      </p:sp>
      <p:sp>
        <p:nvSpPr>
          <p:cNvPr id="638" name="s638"/>
          <p:cNvSpPr/>
          <p:nvPr/>
        </p:nvSpPr>
        <p:spPr>
          <a:xfrm>
            <a:off x="317500" y="4597400"/>
            <a:ext cx="8509000" cy="127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639" name="s639"/>
          <p:cNvSpPr/>
          <p:nvPr/>
        </p:nvSpPr>
        <p:spPr>
          <a:xfrm>
            <a:off x="317500" y="4699000"/>
            <a:ext cx="51435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250A8"/>
                </a:solidFill>
                <a:latin typeface="Verdana"/>
              </a:rPr>
              <a:t>blue · inbound session        green · replica holding the finalize lock</a:t>
            </a:r>
          </a:p>
        </p:txBody>
      </p:sp>
      <p:sp>
        <p:nvSpPr>
          <p:cNvPr id="640" name="s640"/>
          <p:cNvSpPr/>
          <p:nvPr/>
        </p:nvSpPr>
        <p:spPr>
          <a:xfrm>
            <a:off x="5651500" y="4699000"/>
            <a:ext cx="3175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9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Verdana"/>
              </a:rPr>
              <a:t>Nemotron Voice Agent  ·  generated 2026-08-26</a:t>
            </a:r>
          </a:p>
        </p:txBody>
      </p:sp>
      <p:sp>
        <p:nvSpPr>
          <p:cNvPr id="700" name="b700"/>
          <p:cNvSpPr/>
          <p:nvPr/>
        </p:nvSpPr>
        <p:spPr>
          <a:xfrm>
            <a:off x="5473700" y="1485900"/>
            <a:ext cx="20320" cy="15240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txBody>
          <a:bodyPr/>
          <a:lstStyle/>
          <a:p>
            <a:endParaRPr lang="en-US">
              <a:latin typeface="Verdana"/>
            </a:endParaRPr>
          </a:p>
        </p:txBody>
      </p:sp>
      <p:sp>
        <p:nvSpPr>
          <p:cNvPr id="701" name="b701"/>
          <p:cNvSpPr/>
          <p:nvPr/>
        </p:nvSpPr>
        <p:spPr>
          <a:xfrm>
            <a:off x="5397500" y="1475740"/>
            <a:ext cx="76200" cy="2032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txBody>
          <a:bodyPr/>
          <a:lstStyle/>
          <a:p>
            <a:endParaRPr lang="en-US">
              <a:latin typeface="Verdana"/>
            </a:endParaRPr>
          </a:p>
        </p:txBody>
      </p:sp>
      <p:sp>
        <p:nvSpPr>
          <p:cNvPr id="702" name="b702"/>
          <p:cNvSpPr/>
          <p:nvPr/>
        </p:nvSpPr>
        <p:spPr>
          <a:xfrm>
            <a:off x="5397500" y="1856740"/>
            <a:ext cx="76200" cy="2032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txBody>
          <a:bodyPr/>
          <a:lstStyle/>
          <a:p>
            <a:endParaRPr lang="en-US">
              <a:latin typeface="Verdana"/>
            </a:endParaRPr>
          </a:p>
        </p:txBody>
      </p:sp>
      <p:sp>
        <p:nvSpPr>
          <p:cNvPr id="703" name="b703"/>
          <p:cNvSpPr/>
          <p:nvPr/>
        </p:nvSpPr>
        <p:spPr>
          <a:xfrm>
            <a:off x="5397500" y="2237740"/>
            <a:ext cx="76200" cy="2032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txBody>
          <a:bodyPr/>
          <a:lstStyle/>
          <a:p>
            <a:endParaRPr lang="en-US">
              <a:latin typeface="Verdana"/>
            </a:endParaRPr>
          </a:p>
        </p:txBody>
      </p:sp>
      <p:sp>
        <p:nvSpPr>
          <p:cNvPr id="704" name="b704"/>
          <p:cNvSpPr/>
          <p:nvPr/>
        </p:nvSpPr>
        <p:spPr>
          <a:xfrm>
            <a:off x="5397500" y="2618740"/>
            <a:ext cx="76200" cy="2032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txBody>
          <a:bodyPr/>
          <a:lstStyle/>
          <a:p>
            <a:endParaRPr lang="en-US">
              <a:latin typeface="Verdana"/>
            </a:endParaRPr>
          </a:p>
        </p:txBody>
      </p:sp>
      <p:sp>
        <p:nvSpPr>
          <p:cNvPr id="705" name="b705"/>
          <p:cNvSpPr/>
          <p:nvPr/>
        </p:nvSpPr>
        <p:spPr>
          <a:xfrm>
            <a:off x="5397500" y="2999740"/>
            <a:ext cx="76200" cy="2032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txBody>
          <a:bodyPr/>
          <a:lstStyle/>
          <a:p>
            <a:endParaRPr lang="en-US">
              <a:latin typeface="Verdana"/>
            </a:endParaRPr>
          </a:p>
        </p:txBody>
      </p:sp>
      <p:sp>
        <p:nvSpPr>
          <p:cNvPr id="800" name="r800"/>
          <p:cNvSpPr/>
          <p:nvPr/>
        </p:nvSpPr>
        <p:spPr>
          <a:xfrm>
            <a:off x="317500" y="1574800"/>
            <a:ext cx="1397000" cy="33020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1" name="r801"/>
          <p:cNvSpPr/>
          <p:nvPr/>
        </p:nvSpPr>
        <p:spPr>
          <a:xfrm>
            <a:off x="317500" y="2057400"/>
            <a:ext cx="1397000" cy="33020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2" name="r802"/>
          <p:cNvSpPr/>
          <p:nvPr/>
        </p:nvSpPr>
        <p:spPr>
          <a:xfrm>
            <a:off x="317500" y="2540000"/>
            <a:ext cx="1397000" cy="33020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3" name="r803"/>
          <p:cNvSpPr/>
          <p:nvPr/>
        </p:nvSpPr>
        <p:spPr>
          <a:xfrm>
            <a:off x="1943100" y="1320800"/>
            <a:ext cx="1320800" cy="33020"/>
          </a:xfrm>
          <a:prstGeom prst="rect">
            <a:avLst/>
          </a:prstGeom>
          <a:solidFill>
            <a:srgbClr val="7A5A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4" name="r804"/>
          <p:cNvSpPr/>
          <p:nvPr/>
        </p:nvSpPr>
        <p:spPr>
          <a:xfrm>
            <a:off x="3492500" y="1320800"/>
            <a:ext cx="1905000" cy="33020"/>
          </a:xfrm>
          <a:prstGeom prst="rect">
            <a:avLst/>
          </a:prstGeom>
          <a:solidFill>
            <a:srgbClr val="1689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5" name="r805"/>
          <p:cNvSpPr/>
          <p:nvPr/>
        </p:nvSpPr>
        <p:spPr>
          <a:xfrm>
            <a:off x="3492500" y="1701800"/>
            <a:ext cx="1905000" cy="33020"/>
          </a:xfrm>
          <a:prstGeom prst="rect">
            <a:avLst/>
          </a:prstGeom>
          <a:solidFill>
            <a:srgbClr val="1689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6" name="r806"/>
          <p:cNvSpPr/>
          <p:nvPr/>
        </p:nvSpPr>
        <p:spPr>
          <a:xfrm>
            <a:off x="3492500" y="2082800"/>
            <a:ext cx="1905000" cy="33020"/>
          </a:xfrm>
          <a:prstGeom prst="rect">
            <a:avLst/>
          </a:prstGeom>
          <a:solidFill>
            <a:srgbClr val="2F6B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7" name="r807"/>
          <p:cNvSpPr/>
          <p:nvPr/>
        </p:nvSpPr>
        <p:spPr>
          <a:xfrm>
            <a:off x="3492500" y="2463800"/>
            <a:ext cx="1905000" cy="33020"/>
          </a:xfrm>
          <a:prstGeom prst="rect">
            <a:avLst/>
          </a:prstGeom>
          <a:solidFill>
            <a:srgbClr val="1689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8" name="r808"/>
          <p:cNvSpPr/>
          <p:nvPr/>
        </p:nvSpPr>
        <p:spPr>
          <a:xfrm>
            <a:off x="3492500" y="2844800"/>
            <a:ext cx="1905000" cy="33020"/>
          </a:xfrm>
          <a:prstGeom prst="rect">
            <a:avLst/>
          </a:prstGeom>
          <a:solidFill>
            <a:srgbClr val="1689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9" name="r809"/>
          <p:cNvSpPr/>
          <p:nvPr/>
        </p:nvSpPr>
        <p:spPr>
          <a:xfrm>
            <a:off x="5626100" y="1320800"/>
            <a:ext cx="3200400" cy="330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0" name="r810"/>
          <p:cNvSpPr/>
          <p:nvPr/>
        </p:nvSpPr>
        <p:spPr>
          <a:xfrm>
            <a:off x="5626100" y="1955800"/>
            <a:ext cx="3200400" cy="33020"/>
          </a:xfrm>
          <a:prstGeom prst="rect">
            <a:avLst/>
          </a:prstGeom>
          <a:solidFill>
            <a:srgbClr val="5C9A1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1" name="r811"/>
          <p:cNvSpPr/>
          <p:nvPr/>
        </p:nvSpPr>
        <p:spPr>
          <a:xfrm>
            <a:off x="5626100" y="2590800"/>
            <a:ext cx="3200400" cy="3302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2" name="r812"/>
          <p:cNvSpPr/>
          <p:nvPr/>
        </p:nvSpPr>
        <p:spPr>
          <a:xfrm>
            <a:off x="317500" y="3530600"/>
            <a:ext cx="2051050" cy="33020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3" name="r813"/>
          <p:cNvSpPr/>
          <p:nvPr/>
        </p:nvSpPr>
        <p:spPr>
          <a:xfrm>
            <a:off x="2470150" y="3530600"/>
            <a:ext cx="2051050" cy="33020"/>
          </a:xfrm>
          <a:prstGeom prst="rect">
            <a:avLst/>
          </a:prstGeom>
          <a:solidFill>
            <a:srgbClr val="1689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4" name="r814"/>
          <p:cNvSpPr/>
          <p:nvPr/>
        </p:nvSpPr>
        <p:spPr>
          <a:xfrm>
            <a:off x="4622800" y="3530600"/>
            <a:ext cx="2051050" cy="33020"/>
          </a:xfrm>
          <a:prstGeom prst="rect">
            <a:avLst/>
          </a:prstGeom>
          <a:solidFill>
            <a:srgbClr val="5C9A1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5" name="r815"/>
          <p:cNvSpPr/>
          <p:nvPr/>
        </p:nvSpPr>
        <p:spPr>
          <a:xfrm>
            <a:off x="6775450" y="3530600"/>
            <a:ext cx="2051050" cy="33020"/>
          </a:xfrm>
          <a:prstGeom prst="rect">
            <a:avLst/>
          </a:prstGeom>
          <a:solidFill>
            <a:srgbClr val="7A5A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6" name="r816"/>
          <p:cNvSpPr/>
          <p:nvPr/>
        </p:nvSpPr>
        <p:spPr>
          <a:xfrm>
            <a:off x="6350000" y="330200"/>
            <a:ext cx="2476500" cy="33020"/>
          </a:xfrm>
          <a:prstGeom prst="rect">
            <a:avLst/>
          </a:prstGeom>
          <a:solidFill>
            <a:srgbClr val="2F6B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679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300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301" name="s301"/>
          <p:cNvSpPr/>
          <p:nvPr/>
        </p:nvSpPr>
        <p:spPr>
          <a:xfrm>
            <a:off x="317500" y="15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650" b="1" spc="180" dirty="0">
                <a:solidFill>
                  <a:srgbClr val="447000"/>
                </a:solidFill>
                <a:latin typeface="Verdana"/>
              </a:rPr>
              <a:t>NEMOTRON VOICE AGENT</a:t>
            </a:r>
          </a:p>
        </p:txBody>
      </p:sp>
      <p:sp>
        <p:nvSpPr>
          <p:cNvPr id="302" name="s302"/>
          <p:cNvSpPr/>
          <p:nvPr/>
        </p:nvSpPr>
        <p:spPr>
          <a:xfrm>
            <a:off x="317500" y="330200"/>
            <a:ext cx="711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Verdana"/>
              </a:rPr>
              <a:t>Frontend / Backend Agent — architecture</a:t>
            </a:r>
          </a:p>
        </p:txBody>
      </p:sp>
      <p:sp>
        <p:nvSpPr>
          <p:cNvPr id="303" name="s303"/>
          <p:cNvSpPr/>
          <p:nvPr/>
        </p:nvSpPr>
        <p:spPr>
          <a:xfrm>
            <a:off x="317500" y="685800"/>
            <a:ext cx="7112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Verdana"/>
              </a:rPr>
              <a:t>Where each module lives and how one turn moves down the stack</a:t>
            </a:r>
          </a:p>
        </p:txBody>
      </p:sp>
      <p:sp>
        <p:nvSpPr>
          <p:cNvPr id="304" name="s304"/>
          <p:cNvSpPr/>
          <p:nvPr/>
        </p:nvSpPr>
        <p:spPr>
          <a:xfrm>
            <a:off x="317500" y="863600"/>
            <a:ext cx="8509000" cy="482600"/>
          </a:xfrm>
          <a:prstGeom prst="roundRect">
            <a:avLst>
              <a:gd name="adj" fmla="val 5000"/>
            </a:avLst>
          </a:prstGeom>
          <a:noFill/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305" name="s305"/>
          <p:cNvSpPr/>
          <p:nvPr/>
        </p:nvSpPr>
        <p:spPr>
          <a:xfrm>
            <a:off x="419100" y="863600"/>
            <a:ext cx="1320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447000"/>
                </a:solidFill>
                <a:latin typeface="Verdana"/>
              </a:rPr>
              <a:t>1 · Configuration</a:t>
            </a:r>
          </a:p>
        </p:txBody>
      </p:sp>
      <p:sp>
        <p:nvSpPr>
          <p:cNvPr id="306" name="s306"/>
          <p:cNvSpPr/>
          <p:nvPr/>
        </p:nvSpPr>
        <p:spPr>
          <a:xfrm>
            <a:off x="1854200" y="927100"/>
            <a:ext cx="2239433" cy="355600"/>
          </a:xfrm>
          <a:prstGeom prst="roundRect">
            <a:avLst>
              <a:gd name="adj" fmla="val 5000"/>
            </a:avLst>
          </a:prstGeom>
          <a:solidFill>
            <a:srgbClr val="E8F0FB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examples_registry.yaml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one entry</a:t>
            </a:r>
          </a:p>
        </p:txBody>
      </p:sp>
      <p:sp>
        <p:nvSpPr>
          <p:cNvPr id="307" name="s307"/>
          <p:cNvSpPr/>
          <p:nvPr/>
        </p:nvSpPr>
        <p:spPr>
          <a:xfrm>
            <a:off x="4169833" y="927100"/>
            <a:ext cx="2239433" cy="355600"/>
          </a:xfrm>
          <a:prstGeom prst="roundRect">
            <a:avLst>
              <a:gd name="adj" fmla="val 5000"/>
            </a:avLst>
          </a:prstGeom>
          <a:solidFill>
            <a:srgbClr val="E8F0FB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prompts.yaml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talker · thinker</a:t>
            </a:r>
          </a:p>
        </p:txBody>
      </p:sp>
      <p:sp>
        <p:nvSpPr>
          <p:cNvPr id="308" name="s308"/>
          <p:cNvSpPr/>
          <p:nvPr/>
        </p:nvSpPr>
        <p:spPr>
          <a:xfrm>
            <a:off x="6485467" y="927100"/>
            <a:ext cx="2239433" cy="355600"/>
          </a:xfrm>
          <a:prstGeom prst="roundRect">
            <a:avLst>
              <a:gd name="adj" fmla="val 5000"/>
            </a:avLst>
          </a:prstGeom>
          <a:solidFill>
            <a:srgbClr val="E8F0FB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services.yaml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model catalog</a:t>
            </a:r>
          </a:p>
        </p:txBody>
      </p:sp>
      <p:sp>
        <p:nvSpPr>
          <p:cNvPr id="309" name="s309"/>
          <p:cNvSpPr/>
          <p:nvPr/>
        </p:nvSpPr>
        <p:spPr>
          <a:xfrm>
            <a:off x="317500" y="1447800"/>
            <a:ext cx="8509000" cy="482600"/>
          </a:xfrm>
          <a:prstGeom prst="roundRect">
            <a:avLst>
              <a:gd name="adj" fmla="val 5000"/>
            </a:avLst>
          </a:prstGeom>
          <a:noFill/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310" name="s310"/>
          <p:cNvSpPr/>
          <p:nvPr/>
        </p:nvSpPr>
        <p:spPr>
          <a:xfrm>
            <a:off x="419100" y="1447800"/>
            <a:ext cx="1320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447000"/>
                </a:solidFill>
                <a:latin typeface="Verdana"/>
              </a:rPr>
              <a:t>2 · Voice pipeline
pipeline.py</a:t>
            </a:r>
          </a:p>
        </p:txBody>
      </p:sp>
      <p:sp>
        <p:nvSpPr>
          <p:cNvPr id="311" name="s311"/>
          <p:cNvSpPr/>
          <p:nvPr/>
        </p:nvSpPr>
        <p:spPr>
          <a:xfrm>
            <a:off x="1854200" y="1511300"/>
            <a:ext cx="2239433" cy="355600"/>
          </a:xfrm>
          <a:prstGeom prst="roundRect">
            <a:avLst>
              <a:gd name="adj" fmla="val 5000"/>
            </a:avLst>
          </a:prstGeom>
          <a:solidFill>
            <a:srgbClr val="DCF0EC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ASR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speech → text</a:t>
            </a:r>
          </a:p>
        </p:txBody>
      </p:sp>
      <p:sp>
        <p:nvSpPr>
          <p:cNvPr id="312" name="s312"/>
          <p:cNvSpPr/>
          <p:nvPr/>
        </p:nvSpPr>
        <p:spPr>
          <a:xfrm>
            <a:off x="4169833" y="1511300"/>
            <a:ext cx="2239433" cy="355600"/>
          </a:xfrm>
          <a:prstGeom prst="roundRect">
            <a:avLst>
              <a:gd name="adj" fmla="val 5000"/>
            </a:avLst>
          </a:prstGeom>
          <a:solidFill>
            <a:srgbClr val="DCF0EC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Talker LLM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reasoning off</a:t>
            </a:r>
          </a:p>
        </p:txBody>
      </p:sp>
      <p:sp>
        <p:nvSpPr>
          <p:cNvPr id="313" name="s313"/>
          <p:cNvSpPr/>
          <p:nvPr/>
        </p:nvSpPr>
        <p:spPr>
          <a:xfrm>
            <a:off x="6485467" y="1511300"/>
            <a:ext cx="2239433" cy="355600"/>
          </a:xfrm>
          <a:prstGeom prst="roundRect">
            <a:avLst>
              <a:gd name="adj" fmla="val 5000"/>
            </a:avLst>
          </a:prstGeom>
          <a:solidFill>
            <a:srgbClr val="DCF0EC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TTS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text → speech</a:t>
            </a:r>
          </a:p>
        </p:txBody>
      </p:sp>
      <p:sp>
        <p:nvSpPr>
          <p:cNvPr id="314" name="s314"/>
          <p:cNvSpPr/>
          <p:nvPr/>
        </p:nvSpPr>
        <p:spPr>
          <a:xfrm>
            <a:off x="317500" y="2032000"/>
            <a:ext cx="8509000" cy="482600"/>
          </a:xfrm>
          <a:prstGeom prst="roundRect">
            <a:avLst>
              <a:gd name="adj" fmla="val 5000"/>
            </a:avLst>
          </a:prstGeom>
          <a:noFill/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315" name="s315"/>
          <p:cNvSpPr/>
          <p:nvPr/>
        </p:nvSpPr>
        <p:spPr>
          <a:xfrm>
            <a:off x="419100" y="2032000"/>
            <a:ext cx="1320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447000"/>
                </a:solidFill>
                <a:latin typeface="Verdana"/>
              </a:rPr>
              <a:t>3 · Talker tools
tool_handlers.py</a:t>
            </a:r>
          </a:p>
        </p:txBody>
      </p:sp>
      <p:sp>
        <p:nvSpPr>
          <p:cNvPr id="316" name="s316"/>
          <p:cNvSpPr/>
          <p:nvPr/>
        </p:nvSpPr>
        <p:spPr>
          <a:xfrm>
            <a:off x="1854200" y="2095500"/>
            <a:ext cx="3397250" cy="355600"/>
          </a:xfrm>
          <a:prstGeom prst="roundRect">
            <a:avLst>
              <a:gd name="adj" fmla="val 5000"/>
            </a:avLst>
          </a:prstGeom>
          <a:solidFill>
            <a:srgbClr val="EDE7F8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call_backend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delegates the turn</a:t>
            </a:r>
          </a:p>
        </p:txBody>
      </p:sp>
      <p:sp>
        <p:nvSpPr>
          <p:cNvPr id="317" name="s317"/>
          <p:cNvSpPr/>
          <p:nvPr/>
        </p:nvSpPr>
        <p:spPr>
          <a:xfrm>
            <a:off x="5327650" y="2095500"/>
            <a:ext cx="3397250" cy="355600"/>
          </a:xfrm>
          <a:prstGeom prst="roundRect">
            <a:avLst>
              <a:gd name="adj" fmla="val 5000"/>
            </a:avLst>
          </a:prstGeom>
          <a:solidFill>
            <a:srgbClr val="EDE7F8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cancel_backend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aborts in flight</a:t>
            </a:r>
          </a:p>
        </p:txBody>
      </p:sp>
      <p:sp>
        <p:nvSpPr>
          <p:cNvPr id="318" name="s318"/>
          <p:cNvSpPr/>
          <p:nvPr/>
        </p:nvSpPr>
        <p:spPr>
          <a:xfrm>
            <a:off x="317500" y="2616200"/>
            <a:ext cx="8509000" cy="482600"/>
          </a:xfrm>
          <a:prstGeom prst="roundRect">
            <a:avLst>
              <a:gd name="adj" fmla="val 5000"/>
            </a:avLst>
          </a:prstGeom>
          <a:noFill/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319" name="s319"/>
          <p:cNvSpPr/>
          <p:nvPr/>
        </p:nvSpPr>
        <p:spPr>
          <a:xfrm>
            <a:off x="419100" y="2616200"/>
            <a:ext cx="1320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447000"/>
                </a:solidFill>
                <a:latin typeface="Verdana"/>
              </a:rPr>
              <a:t>4 · Planner
planner.py</a:t>
            </a:r>
          </a:p>
        </p:txBody>
      </p:sp>
      <p:sp>
        <p:nvSpPr>
          <p:cNvPr id="320" name="s320"/>
          <p:cNvSpPr/>
          <p:nvPr/>
        </p:nvSpPr>
        <p:spPr>
          <a:xfrm>
            <a:off x="1854200" y="2679700"/>
            <a:ext cx="3397250" cy="355600"/>
          </a:xfrm>
          <a:prstGeom prst="roundRect">
            <a:avLst>
              <a:gd name="adj" fmla="val 5000"/>
            </a:avLst>
          </a:prstGeom>
          <a:solidFill>
            <a:srgbClr val="FDF0DC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Thinker LLM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reasoning on</a:t>
            </a:r>
          </a:p>
        </p:txBody>
      </p:sp>
      <p:sp>
        <p:nvSpPr>
          <p:cNvPr id="321" name="s321"/>
          <p:cNvSpPr/>
          <p:nvPr/>
        </p:nvSpPr>
        <p:spPr>
          <a:xfrm>
            <a:off x="5327650" y="2679700"/>
            <a:ext cx="3397250" cy="355600"/>
          </a:xfrm>
          <a:prstGeom prst="roundRect">
            <a:avLst>
              <a:gd name="adj" fmla="val 5000"/>
            </a:avLst>
          </a:prstGeom>
          <a:solidFill>
            <a:srgbClr val="FDF0DC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JSON plan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unexecuted</a:t>
            </a:r>
          </a:p>
        </p:txBody>
      </p:sp>
      <p:sp>
        <p:nvSpPr>
          <p:cNvPr id="322" name="s322"/>
          <p:cNvSpPr/>
          <p:nvPr/>
        </p:nvSpPr>
        <p:spPr>
          <a:xfrm>
            <a:off x="317500" y="3200400"/>
            <a:ext cx="8509000" cy="1295400"/>
          </a:xfrm>
          <a:prstGeom prst="roundRect">
            <a:avLst>
              <a:gd name="adj" fmla="val 5000"/>
            </a:avLst>
          </a:prstGeom>
          <a:noFill/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323" name="s323"/>
          <p:cNvSpPr/>
          <p:nvPr/>
        </p:nvSpPr>
        <p:spPr>
          <a:xfrm>
            <a:off x="419100" y="3200400"/>
            <a:ext cx="1320800" cy="129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447000"/>
                </a:solidFill>
                <a:latin typeface="Verdana"/>
              </a:rPr>
              <a:t>5 · Domain
airline</a:t>
            </a:r>
          </a:p>
        </p:txBody>
      </p:sp>
      <p:sp>
        <p:nvSpPr>
          <p:cNvPr id="324" name="s324"/>
          <p:cNvSpPr/>
          <p:nvPr/>
        </p:nvSpPr>
        <p:spPr>
          <a:xfrm>
            <a:off x="1854200" y="3263900"/>
            <a:ext cx="2239433" cy="355600"/>
          </a:xfrm>
          <a:prstGeom prst="roundRect">
            <a:avLst>
              <a:gd name="adj" fmla="val 5000"/>
            </a:avLst>
          </a:prstGeom>
          <a:solidFill>
            <a:srgbClr val="EFF7E0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airline/thinker.py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dispatch</a:t>
            </a:r>
          </a:p>
        </p:txBody>
      </p:sp>
      <p:sp>
        <p:nvSpPr>
          <p:cNvPr id="325" name="s325"/>
          <p:cNvSpPr/>
          <p:nvPr/>
        </p:nvSpPr>
        <p:spPr>
          <a:xfrm>
            <a:off x="4169833" y="3263900"/>
            <a:ext cx="2239433" cy="355600"/>
          </a:xfrm>
          <a:prstGeom prst="roundRect">
            <a:avLst>
              <a:gd name="adj" fmla="val 5000"/>
            </a:avLst>
          </a:prstGeom>
          <a:solidFill>
            <a:srgbClr val="EFF7E0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airline/state.py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session state</a:t>
            </a:r>
          </a:p>
        </p:txBody>
      </p:sp>
      <p:sp>
        <p:nvSpPr>
          <p:cNvPr id="326" name="s326"/>
          <p:cNvSpPr/>
          <p:nvPr/>
        </p:nvSpPr>
        <p:spPr>
          <a:xfrm>
            <a:off x="6485467" y="3263900"/>
            <a:ext cx="2239433" cy="355600"/>
          </a:xfrm>
          <a:prstGeom prst="roundRect">
            <a:avLst>
              <a:gd name="adj" fmla="val 5000"/>
            </a:avLst>
          </a:prstGeom>
          <a:solidFill>
            <a:srgbClr val="EFF7E0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airline/tools.py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C0392B"/>
                </a:solidFill>
                <a:latin typeface="Verdana"/>
              </a:rPr>
              <a:t>tool schema · hardwired to TTS</a:t>
            </a:r>
          </a:p>
        </p:txBody>
      </p:sp>
      <p:sp>
        <p:nvSpPr>
          <p:cNvPr id="327" name="s327"/>
          <p:cNvSpPr/>
          <p:nvPr/>
        </p:nvSpPr>
        <p:spPr>
          <a:xfrm>
            <a:off x="1854200" y="3670300"/>
            <a:ext cx="2239433" cy="355600"/>
          </a:xfrm>
          <a:prstGeom prst="roundRect">
            <a:avLst>
              <a:gd name="adj" fmla="val 5000"/>
            </a:avLst>
          </a:prstGeom>
          <a:solidFill>
            <a:srgbClr val="EFF7E0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flight_search.py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tool</a:t>
            </a:r>
          </a:p>
        </p:txBody>
      </p:sp>
      <p:sp>
        <p:nvSpPr>
          <p:cNvPr id="328" name="s328"/>
          <p:cNvSpPr/>
          <p:nvPr/>
        </p:nvSpPr>
        <p:spPr>
          <a:xfrm>
            <a:off x="4169833" y="3670300"/>
            <a:ext cx="2239433" cy="355600"/>
          </a:xfrm>
          <a:prstGeom prst="roundRect">
            <a:avLst>
              <a:gd name="adj" fmla="val 5000"/>
            </a:avLst>
          </a:prstGeom>
          <a:solidFill>
            <a:srgbClr val="EFF7E0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booking_tool.py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tool</a:t>
            </a:r>
          </a:p>
        </p:txBody>
      </p:sp>
      <p:sp>
        <p:nvSpPr>
          <p:cNvPr id="329" name="s329"/>
          <p:cNvSpPr/>
          <p:nvPr/>
        </p:nvSpPr>
        <p:spPr>
          <a:xfrm>
            <a:off x="6485467" y="3670300"/>
            <a:ext cx="2239433" cy="355600"/>
          </a:xfrm>
          <a:prstGeom prst="roundRect">
            <a:avLst>
              <a:gd name="adj" fmla="val 5000"/>
            </a:avLst>
          </a:prstGeom>
          <a:solidFill>
            <a:srgbClr val="EFF7E0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pnr_status.py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tool</a:t>
            </a:r>
          </a:p>
        </p:txBody>
      </p:sp>
      <p:sp>
        <p:nvSpPr>
          <p:cNvPr id="330" name="s330"/>
          <p:cNvSpPr/>
          <p:nvPr/>
        </p:nvSpPr>
        <p:spPr>
          <a:xfrm>
            <a:off x="1854200" y="4076700"/>
            <a:ext cx="3397250" cy="355600"/>
          </a:xfrm>
          <a:prstGeom prst="roundRect">
            <a:avLst>
              <a:gd name="adj" fmla="val 5000"/>
            </a:avLst>
          </a:prstGeom>
          <a:solidFill>
            <a:srgbClr val="EFF7E0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airline/backend.py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HTTP client</a:t>
            </a:r>
          </a:p>
        </p:txBody>
      </p:sp>
      <p:sp>
        <p:nvSpPr>
          <p:cNvPr id="331" name="s331"/>
          <p:cNvSpPr/>
          <p:nvPr/>
        </p:nvSpPr>
        <p:spPr>
          <a:xfrm>
            <a:off x="5327650" y="4076700"/>
            <a:ext cx="3397250" cy="355600"/>
          </a:xfrm>
          <a:prstGeom prst="roundRect">
            <a:avLst>
              <a:gd name="adj" fmla="val 5000"/>
            </a:avLst>
          </a:prstGeom>
          <a:solidFill>
            <a:srgbClr val="EFF7E0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airline/database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FastAPI · Postgres</a:t>
            </a:r>
          </a:p>
        </p:txBody>
      </p:sp>
      <p:sp>
        <p:nvSpPr>
          <p:cNvPr id="332" name="s332"/>
          <p:cNvSpPr/>
          <p:nvPr/>
        </p:nvSpPr>
        <p:spPr>
          <a:xfrm>
            <a:off x="317500" y="4597400"/>
            <a:ext cx="8509000" cy="127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333" name="s333"/>
          <p:cNvSpPr/>
          <p:nvPr/>
        </p:nvSpPr>
        <p:spPr>
          <a:xfrm>
            <a:off x="317500" y="4699000"/>
            <a:ext cx="51435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C0392B"/>
                </a:solidFill>
                <a:latin typeface="Verdana"/>
              </a:rPr>
              <a:t>red · direct coupling</a:t>
            </a:r>
          </a:p>
        </p:txBody>
      </p:sp>
      <p:sp>
        <p:nvSpPr>
          <p:cNvPr id="334" name="s334"/>
          <p:cNvSpPr/>
          <p:nvPr/>
        </p:nvSpPr>
        <p:spPr>
          <a:xfrm>
            <a:off x="5651500" y="4699000"/>
            <a:ext cx="3175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9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Verdana"/>
              </a:rPr>
              <a:t>Nemotron Voice Agent  ·  generated 2026-08-26</a:t>
            </a:r>
          </a:p>
        </p:txBody>
      </p:sp>
      <p:sp>
        <p:nvSpPr>
          <p:cNvPr id="800" name="r800"/>
          <p:cNvSpPr/>
          <p:nvPr/>
        </p:nvSpPr>
        <p:spPr>
          <a:xfrm>
            <a:off x="1854200" y="927100"/>
            <a:ext cx="2239433" cy="33020"/>
          </a:xfrm>
          <a:prstGeom prst="rect">
            <a:avLst/>
          </a:prstGeom>
          <a:solidFill>
            <a:srgbClr val="3B5BA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1" name="r801"/>
          <p:cNvSpPr/>
          <p:nvPr/>
        </p:nvSpPr>
        <p:spPr>
          <a:xfrm>
            <a:off x="4169833" y="927100"/>
            <a:ext cx="2239433" cy="33020"/>
          </a:xfrm>
          <a:prstGeom prst="rect">
            <a:avLst/>
          </a:prstGeom>
          <a:solidFill>
            <a:srgbClr val="3B5BA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2" name="r802"/>
          <p:cNvSpPr/>
          <p:nvPr/>
        </p:nvSpPr>
        <p:spPr>
          <a:xfrm>
            <a:off x="6485467" y="927100"/>
            <a:ext cx="2239433" cy="33020"/>
          </a:xfrm>
          <a:prstGeom prst="rect">
            <a:avLst/>
          </a:prstGeom>
          <a:solidFill>
            <a:srgbClr val="3B5BA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3" name="r803"/>
          <p:cNvSpPr/>
          <p:nvPr/>
        </p:nvSpPr>
        <p:spPr>
          <a:xfrm>
            <a:off x="1854200" y="1511300"/>
            <a:ext cx="2239433" cy="33020"/>
          </a:xfrm>
          <a:prstGeom prst="rect">
            <a:avLst/>
          </a:prstGeom>
          <a:solidFill>
            <a:srgbClr val="1689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4" name="r804"/>
          <p:cNvSpPr/>
          <p:nvPr/>
        </p:nvSpPr>
        <p:spPr>
          <a:xfrm>
            <a:off x="4169833" y="1511300"/>
            <a:ext cx="2239433" cy="33020"/>
          </a:xfrm>
          <a:prstGeom prst="rect">
            <a:avLst/>
          </a:prstGeom>
          <a:solidFill>
            <a:srgbClr val="1689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5" name="r805"/>
          <p:cNvSpPr/>
          <p:nvPr/>
        </p:nvSpPr>
        <p:spPr>
          <a:xfrm>
            <a:off x="6485467" y="1511300"/>
            <a:ext cx="2239433" cy="33020"/>
          </a:xfrm>
          <a:prstGeom prst="rect">
            <a:avLst/>
          </a:prstGeom>
          <a:solidFill>
            <a:srgbClr val="1689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6" name="r806"/>
          <p:cNvSpPr/>
          <p:nvPr/>
        </p:nvSpPr>
        <p:spPr>
          <a:xfrm>
            <a:off x="1854200" y="2095500"/>
            <a:ext cx="3397250" cy="33020"/>
          </a:xfrm>
          <a:prstGeom prst="rect">
            <a:avLst/>
          </a:prstGeom>
          <a:solidFill>
            <a:srgbClr val="7A5A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7" name="r807"/>
          <p:cNvSpPr/>
          <p:nvPr/>
        </p:nvSpPr>
        <p:spPr>
          <a:xfrm>
            <a:off x="5327650" y="2095500"/>
            <a:ext cx="3397250" cy="33020"/>
          </a:xfrm>
          <a:prstGeom prst="rect">
            <a:avLst/>
          </a:prstGeom>
          <a:solidFill>
            <a:srgbClr val="7A5A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8" name="r808"/>
          <p:cNvSpPr/>
          <p:nvPr/>
        </p:nvSpPr>
        <p:spPr>
          <a:xfrm>
            <a:off x="1854200" y="2679700"/>
            <a:ext cx="3397250" cy="3302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9" name="r809"/>
          <p:cNvSpPr/>
          <p:nvPr/>
        </p:nvSpPr>
        <p:spPr>
          <a:xfrm>
            <a:off x="5327650" y="2679700"/>
            <a:ext cx="3397250" cy="3302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0" name="r810"/>
          <p:cNvSpPr/>
          <p:nvPr/>
        </p:nvSpPr>
        <p:spPr>
          <a:xfrm>
            <a:off x="1854200" y="3263900"/>
            <a:ext cx="2239433" cy="33020"/>
          </a:xfrm>
          <a:prstGeom prst="rect">
            <a:avLst/>
          </a:prstGeom>
          <a:solidFill>
            <a:srgbClr val="5C9A1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1" name="r811"/>
          <p:cNvSpPr/>
          <p:nvPr/>
        </p:nvSpPr>
        <p:spPr>
          <a:xfrm>
            <a:off x="4169833" y="3263900"/>
            <a:ext cx="2239433" cy="33020"/>
          </a:xfrm>
          <a:prstGeom prst="rect">
            <a:avLst/>
          </a:prstGeom>
          <a:solidFill>
            <a:srgbClr val="5C9A1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2" name="r812"/>
          <p:cNvSpPr/>
          <p:nvPr/>
        </p:nvSpPr>
        <p:spPr>
          <a:xfrm>
            <a:off x="6485467" y="3263900"/>
            <a:ext cx="2239433" cy="33020"/>
          </a:xfrm>
          <a:prstGeom prst="rect">
            <a:avLst/>
          </a:prstGeom>
          <a:solidFill>
            <a:srgbClr val="5C9A1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3" name="r813"/>
          <p:cNvSpPr/>
          <p:nvPr/>
        </p:nvSpPr>
        <p:spPr>
          <a:xfrm>
            <a:off x="1854200" y="3670300"/>
            <a:ext cx="2239433" cy="33020"/>
          </a:xfrm>
          <a:prstGeom prst="rect">
            <a:avLst/>
          </a:prstGeom>
          <a:solidFill>
            <a:srgbClr val="5C9A1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4" name="r814"/>
          <p:cNvSpPr/>
          <p:nvPr/>
        </p:nvSpPr>
        <p:spPr>
          <a:xfrm>
            <a:off x="4169833" y="3670300"/>
            <a:ext cx="2239433" cy="33020"/>
          </a:xfrm>
          <a:prstGeom prst="rect">
            <a:avLst/>
          </a:prstGeom>
          <a:solidFill>
            <a:srgbClr val="5C9A1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5" name="r815"/>
          <p:cNvSpPr/>
          <p:nvPr/>
        </p:nvSpPr>
        <p:spPr>
          <a:xfrm>
            <a:off x="6485467" y="3670300"/>
            <a:ext cx="2239433" cy="33020"/>
          </a:xfrm>
          <a:prstGeom prst="rect">
            <a:avLst/>
          </a:prstGeom>
          <a:solidFill>
            <a:srgbClr val="5C9A1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6" name="r816"/>
          <p:cNvSpPr/>
          <p:nvPr/>
        </p:nvSpPr>
        <p:spPr>
          <a:xfrm>
            <a:off x="1854200" y="4076700"/>
            <a:ext cx="3397250" cy="33020"/>
          </a:xfrm>
          <a:prstGeom prst="rect">
            <a:avLst/>
          </a:prstGeom>
          <a:solidFill>
            <a:srgbClr val="5C9A1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7" name="r817"/>
          <p:cNvSpPr/>
          <p:nvPr/>
        </p:nvSpPr>
        <p:spPr>
          <a:xfrm>
            <a:off x="5327650" y="4076700"/>
            <a:ext cx="3397250" cy="33020"/>
          </a:xfrm>
          <a:prstGeom prst="rect">
            <a:avLst/>
          </a:prstGeom>
          <a:solidFill>
            <a:srgbClr val="5C9A1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604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s400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401" name="s401"/>
          <p:cNvSpPr/>
          <p:nvPr/>
        </p:nvSpPr>
        <p:spPr>
          <a:xfrm>
            <a:off x="317500" y="15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650" b="1" spc="180" dirty="0">
                <a:solidFill>
                  <a:srgbClr val="447000"/>
                </a:solidFill>
                <a:latin typeface="Verdana"/>
              </a:rPr>
              <a:t>NEMOTRON VOICE AGENT</a:t>
            </a:r>
          </a:p>
        </p:txBody>
      </p:sp>
      <p:sp>
        <p:nvSpPr>
          <p:cNvPr id="402" name="s402"/>
          <p:cNvSpPr/>
          <p:nvPr/>
        </p:nvSpPr>
        <p:spPr>
          <a:xfrm>
            <a:off x="317500" y="330200"/>
            <a:ext cx="7620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Verdana"/>
              </a:rPr>
              <a:t>Frontend / Backend Agent — made generic</a:t>
            </a:r>
          </a:p>
        </p:txBody>
      </p:sp>
      <p:sp>
        <p:nvSpPr>
          <p:cNvPr id="403" name="s403"/>
          <p:cNvSpPr/>
          <p:nvPr/>
        </p:nvSpPr>
        <p:spPr>
          <a:xfrm>
            <a:off x="317500" y="685800"/>
            <a:ext cx="762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Verdana"/>
              </a:rPr>
              <a:t>The airline domain becomes one configuration among many — the pipeline never changes</a:t>
            </a:r>
          </a:p>
        </p:txBody>
      </p:sp>
      <p:sp>
        <p:nvSpPr>
          <p:cNvPr id="404" name="s404"/>
          <p:cNvSpPr/>
          <p:nvPr/>
        </p:nvSpPr>
        <p:spPr>
          <a:xfrm>
            <a:off x="317500" y="863600"/>
            <a:ext cx="8509000" cy="482600"/>
          </a:xfrm>
          <a:prstGeom prst="roundRect">
            <a:avLst>
              <a:gd name="adj" fmla="val 5000"/>
            </a:avLst>
          </a:prstGeom>
          <a:noFill/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405" name="s405"/>
          <p:cNvSpPr/>
          <p:nvPr/>
        </p:nvSpPr>
        <p:spPr>
          <a:xfrm>
            <a:off x="419100" y="863600"/>
            <a:ext cx="1320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447000"/>
                </a:solidFill>
                <a:latin typeface="Verdana"/>
              </a:rPr>
              <a:t>1 · Configuration</a:t>
            </a:r>
          </a:p>
        </p:txBody>
      </p:sp>
      <p:sp>
        <p:nvSpPr>
          <p:cNvPr id="406" name="s406"/>
          <p:cNvSpPr/>
          <p:nvPr/>
        </p:nvSpPr>
        <p:spPr>
          <a:xfrm>
            <a:off x="1854200" y="927100"/>
            <a:ext cx="2239433" cy="355600"/>
          </a:xfrm>
          <a:prstGeom prst="roundRect">
            <a:avLst>
              <a:gd name="adj" fmla="val 5000"/>
            </a:avLst>
          </a:prstGeom>
          <a:solidFill>
            <a:srgbClr val="E8F0FB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250A8"/>
                </a:solidFill>
                <a:latin typeface="Verdana"/>
              </a:rPr>
              <a:t>examples_registry.yaml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1250A8"/>
                </a:solidFill>
                <a:latin typeface="Verdana"/>
              </a:rPr>
              <a:t>domain_profile · tools</a:t>
            </a:r>
          </a:p>
        </p:txBody>
      </p:sp>
      <p:sp>
        <p:nvSpPr>
          <p:cNvPr id="407" name="s407"/>
          <p:cNvSpPr/>
          <p:nvPr/>
        </p:nvSpPr>
        <p:spPr>
          <a:xfrm>
            <a:off x="4169833" y="927100"/>
            <a:ext cx="2239433" cy="355600"/>
          </a:xfrm>
          <a:prstGeom prst="roundRect">
            <a:avLst>
              <a:gd name="adj" fmla="val 5000"/>
            </a:avLst>
          </a:prstGeom>
          <a:solidFill>
            <a:srgbClr val="DCF0EC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prompts.yaml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talker · thinker</a:t>
            </a:r>
          </a:p>
        </p:txBody>
      </p:sp>
      <p:sp>
        <p:nvSpPr>
          <p:cNvPr id="408" name="s408"/>
          <p:cNvSpPr/>
          <p:nvPr/>
        </p:nvSpPr>
        <p:spPr>
          <a:xfrm>
            <a:off x="6485467" y="927100"/>
            <a:ext cx="2239433" cy="355600"/>
          </a:xfrm>
          <a:prstGeom prst="roundRect">
            <a:avLst>
              <a:gd name="adj" fmla="val 5000"/>
            </a:avLst>
          </a:prstGeom>
          <a:solidFill>
            <a:srgbClr val="DCF0EC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services.yaml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model catalog</a:t>
            </a:r>
          </a:p>
        </p:txBody>
      </p:sp>
      <p:sp>
        <p:nvSpPr>
          <p:cNvPr id="409" name="s409"/>
          <p:cNvSpPr/>
          <p:nvPr/>
        </p:nvSpPr>
        <p:spPr>
          <a:xfrm>
            <a:off x="317500" y="1397000"/>
            <a:ext cx="8509000" cy="482600"/>
          </a:xfrm>
          <a:prstGeom prst="roundRect">
            <a:avLst>
              <a:gd name="adj" fmla="val 5000"/>
            </a:avLst>
          </a:prstGeom>
          <a:noFill/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410" name="s410"/>
          <p:cNvSpPr/>
          <p:nvPr/>
        </p:nvSpPr>
        <p:spPr>
          <a:xfrm>
            <a:off x="419100" y="1397000"/>
            <a:ext cx="1320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447000"/>
                </a:solidFill>
                <a:latin typeface="Verdana"/>
              </a:rPr>
              <a:t>2 · Voice pipeline
unchanged</a:t>
            </a:r>
          </a:p>
        </p:txBody>
      </p:sp>
      <p:sp>
        <p:nvSpPr>
          <p:cNvPr id="411" name="s411"/>
          <p:cNvSpPr/>
          <p:nvPr/>
        </p:nvSpPr>
        <p:spPr>
          <a:xfrm>
            <a:off x="1854200" y="1460500"/>
            <a:ext cx="2239433" cy="355600"/>
          </a:xfrm>
          <a:prstGeom prst="roundRect">
            <a:avLst>
              <a:gd name="adj" fmla="val 5000"/>
            </a:avLst>
          </a:prstGeom>
          <a:solidFill>
            <a:srgbClr val="EDE7F8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ASR</a:t>
            </a:r>
          </a:p>
        </p:txBody>
      </p:sp>
      <p:sp>
        <p:nvSpPr>
          <p:cNvPr id="412" name="s412"/>
          <p:cNvSpPr/>
          <p:nvPr/>
        </p:nvSpPr>
        <p:spPr>
          <a:xfrm>
            <a:off x="4169833" y="1460500"/>
            <a:ext cx="2239433" cy="355600"/>
          </a:xfrm>
          <a:prstGeom prst="roundRect">
            <a:avLst>
              <a:gd name="adj" fmla="val 5000"/>
            </a:avLst>
          </a:prstGeom>
          <a:solidFill>
            <a:srgbClr val="EDE7F8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Talker LLM</a:t>
            </a:r>
          </a:p>
        </p:txBody>
      </p:sp>
      <p:sp>
        <p:nvSpPr>
          <p:cNvPr id="413" name="s413"/>
          <p:cNvSpPr/>
          <p:nvPr/>
        </p:nvSpPr>
        <p:spPr>
          <a:xfrm>
            <a:off x="6485467" y="1460500"/>
            <a:ext cx="2239433" cy="355600"/>
          </a:xfrm>
          <a:prstGeom prst="roundRect">
            <a:avLst>
              <a:gd name="adj" fmla="val 5000"/>
            </a:avLst>
          </a:prstGeom>
          <a:solidFill>
            <a:srgbClr val="EDE7F8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TTS</a:t>
            </a:r>
          </a:p>
        </p:txBody>
      </p:sp>
      <p:sp>
        <p:nvSpPr>
          <p:cNvPr id="414" name="s414"/>
          <p:cNvSpPr/>
          <p:nvPr/>
        </p:nvSpPr>
        <p:spPr>
          <a:xfrm>
            <a:off x="317500" y="1930400"/>
            <a:ext cx="8509000" cy="482600"/>
          </a:xfrm>
          <a:prstGeom prst="roundRect">
            <a:avLst>
              <a:gd name="adj" fmla="val 5000"/>
            </a:avLst>
          </a:prstGeom>
          <a:noFill/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415" name="s415"/>
          <p:cNvSpPr/>
          <p:nvPr/>
        </p:nvSpPr>
        <p:spPr>
          <a:xfrm>
            <a:off x="419100" y="1930400"/>
            <a:ext cx="1320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447000"/>
                </a:solidFill>
                <a:latin typeface="Verdana"/>
              </a:rPr>
              <a:t>3 · Talker tools
unchanged</a:t>
            </a:r>
          </a:p>
        </p:txBody>
      </p:sp>
      <p:sp>
        <p:nvSpPr>
          <p:cNvPr id="416" name="s416"/>
          <p:cNvSpPr/>
          <p:nvPr/>
        </p:nvSpPr>
        <p:spPr>
          <a:xfrm>
            <a:off x="1854200" y="1993900"/>
            <a:ext cx="3397250" cy="355600"/>
          </a:xfrm>
          <a:prstGeom prst="roundRect">
            <a:avLst>
              <a:gd name="adj" fmla="val 5000"/>
            </a:avLst>
          </a:prstGeom>
          <a:solidFill>
            <a:srgbClr val="FDF0DC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call_backend</a:t>
            </a:r>
          </a:p>
        </p:txBody>
      </p:sp>
      <p:sp>
        <p:nvSpPr>
          <p:cNvPr id="417" name="s417"/>
          <p:cNvSpPr/>
          <p:nvPr/>
        </p:nvSpPr>
        <p:spPr>
          <a:xfrm>
            <a:off x="5327650" y="1993900"/>
            <a:ext cx="3397250" cy="355600"/>
          </a:xfrm>
          <a:prstGeom prst="roundRect">
            <a:avLst>
              <a:gd name="adj" fmla="val 5000"/>
            </a:avLst>
          </a:prstGeom>
          <a:solidFill>
            <a:srgbClr val="FDF0DC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cancel_backend</a:t>
            </a:r>
          </a:p>
        </p:txBody>
      </p:sp>
      <p:sp>
        <p:nvSpPr>
          <p:cNvPr id="418" name="s418"/>
          <p:cNvSpPr/>
          <p:nvPr/>
        </p:nvSpPr>
        <p:spPr>
          <a:xfrm>
            <a:off x="317500" y="2463800"/>
            <a:ext cx="8509000" cy="482600"/>
          </a:xfrm>
          <a:prstGeom prst="roundRect">
            <a:avLst>
              <a:gd name="adj" fmla="val 5000"/>
            </a:avLst>
          </a:prstGeom>
          <a:noFill/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419" name="s419"/>
          <p:cNvSpPr/>
          <p:nvPr/>
        </p:nvSpPr>
        <p:spPr>
          <a:xfrm>
            <a:off x="419100" y="2463800"/>
            <a:ext cx="1320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447000"/>
                </a:solidFill>
                <a:latin typeface="Verdana"/>
              </a:rPr>
              <a:t>4 · Planner
unchanged</a:t>
            </a:r>
          </a:p>
        </p:txBody>
      </p:sp>
      <p:sp>
        <p:nvSpPr>
          <p:cNvPr id="420" name="s420"/>
          <p:cNvSpPr/>
          <p:nvPr/>
        </p:nvSpPr>
        <p:spPr>
          <a:xfrm>
            <a:off x="1854200" y="2527300"/>
            <a:ext cx="3397250" cy="355600"/>
          </a:xfrm>
          <a:prstGeom prst="roundRect">
            <a:avLst>
              <a:gd name="adj" fmla="val 5000"/>
            </a:avLst>
          </a:prstGeom>
          <a:solidFill>
            <a:srgbClr val="EFF7E0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Thinker LLM</a:t>
            </a:r>
          </a:p>
        </p:txBody>
      </p:sp>
      <p:sp>
        <p:nvSpPr>
          <p:cNvPr id="421" name="s421"/>
          <p:cNvSpPr/>
          <p:nvPr/>
        </p:nvSpPr>
        <p:spPr>
          <a:xfrm>
            <a:off x="5327650" y="2527300"/>
            <a:ext cx="3397250" cy="355600"/>
          </a:xfrm>
          <a:prstGeom prst="roundRect">
            <a:avLst>
              <a:gd name="adj" fmla="val 5000"/>
            </a:avLst>
          </a:prstGeom>
          <a:solidFill>
            <a:srgbClr val="EFF7E0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JSON plan</a:t>
            </a:r>
          </a:p>
        </p:txBody>
      </p:sp>
      <p:sp>
        <p:nvSpPr>
          <p:cNvPr id="422" name="s422"/>
          <p:cNvSpPr/>
          <p:nvPr/>
        </p:nvSpPr>
        <p:spPr>
          <a:xfrm>
            <a:off x="317500" y="2997200"/>
            <a:ext cx="8509000" cy="431800"/>
          </a:xfrm>
          <a:prstGeom prst="roundRect">
            <a:avLst>
              <a:gd name="adj" fmla="val 5000"/>
            </a:avLst>
          </a:prstGeom>
          <a:noFill/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423" name="s423"/>
          <p:cNvSpPr/>
          <p:nvPr/>
        </p:nvSpPr>
        <p:spPr>
          <a:xfrm>
            <a:off x="419100" y="2997200"/>
            <a:ext cx="13208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447000"/>
                </a:solidFill>
                <a:latin typeface="Verdana"/>
              </a:rPr>
              <a:t>5 · Domain seam</a:t>
            </a:r>
          </a:p>
        </p:txBody>
      </p:sp>
      <p:sp>
        <p:nvSpPr>
          <p:cNvPr id="424" name="s424"/>
          <p:cNvSpPr/>
          <p:nvPr/>
        </p:nvSpPr>
        <p:spPr>
          <a:xfrm>
            <a:off x="3378200" y="3048000"/>
            <a:ext cx="3810000" cy="330200"/>
          </a:xfrm>
          <a:prstGeom prst="roundRect">
            <a:avLst>
              <a:gd name="adj" fmla="val 5000"/>
            </a:avLst>
          </a:prstGeom>
          <a:solidFill>
            <a:srgbClr val="E8F0FB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250A8"/>
                </a:solidFill>
                <a:latin typeface="Verdana"/>
              </a:rPr>
              <a:t>src/domain.py  ·  DomainSpec</a:t>
            </a:r>
          </a:p>
        </p:txBody>
      </p:sp>
      <p:sp>
        <p:nvSpPr>
          <p:cNvPr id="425" name="s425"/>
          <p:cNvSpPr/>
          <p:nvPr/>
        </p:nvSpPr>
        <p:spPr>
          <a:xfrm>
            <a:off x="317500" y="3479800"/>
            <a:ext cx="8509000" cy="482600"/>
          </a:xfrm>
          <a:prstGeom prst="roundRect">
            <a:avLst>
              <a:gd name="adj" fmla="val 5000"/>
            </a:avLst>
          </a:prstGeom>
          <a:noFill/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426" name="s426"/>
          <p:cNvSpPr/>
          <p:nvPr/>
        </p:nvSpPr>
        <p:spPr>
          <a:xfrm>
            <a:off x="419100" y="3479800"/>
            <a:ext cx="1320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447000"/>
                </a:solidFill>
                <a:latin typeface="Verdana"/>
              </a:rPr>
              <a:t>6 · Domains</a:t>
            </a:r>
          </a:p>
        </p:txBody>
      </p:sp>
      <p:sp>
        <p:nvSpPr>
          <p:cNvPr id="427" name="s427"/>
          <p:cNvSpPr/>
          <p:nvPr/>
        </p:nvSpPr>
        <p:spPr>
          <a:xfrm>
            <a:off x="1854200" y="3543300"/>
            <a:ext cx="2239433" cy="355600"/>
          </a:xfrm>
          <a:prstGeom prst="roundRect">
            <a:avLst>
              <a:gd name="adj" fmla="val 5000"/>
            </a:avLst>
          </a:prstGeom>
          <a:solidFill>
            <a:srgbClr val="E8F0FB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250A8"/>
                </a:solidFill>
                <a:latin typeface="Verdana"/>
              </a:rPr>
              <a:t>airline · ToolSpec registry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1250A8"/>
                </a:solidFill>
                <a:latin typeface="Verdana"/>
              </a:rPr>
              <a:t>tools as data</a:t>
            </a:r>
          </a:p>
        </p:txBody>
      </p:sp>
      <p:sp>
        <p:nvSpPr>
          <p:cNvPr id="428" name="s428"/>
          <p:cNvSpPr/>
          <p:nvPr/>
        </p:nvSpPr>
        <p:spPr>
          <a:xfrm>
            <a:off x="4169833" y="3543300"/>
            <a:ext cx="2239433" cy="355600"/>
          </a:xfrm>
          <a:prstGeom prst="roundRect">
            <a:avLst>
              <a:gd name="adj" fmla="val 5000"/>
            </a:avLst>
          </a:prstGeom>
          <a:solidFill>
            <a:srgbClr val="E8F0FB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250A8"/>
                </a:solidFill>
                <a:latin typeface="Verdana"/>
              </a:rPr>
              <a:t>generic · ToolSpec registry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1250A8"/>
                </a:solidFill>
                <a:latin typeface="Verdana"/>
              </a:rPr>
              <a:t>tools as data</a:t>
            </a:r>
          </a:p>
        </p:txBody>
      </p:sp>
      <p:sp>
        <p:nvSpPr>
          <p:cNvPr id="429" name="s429"/>
          <p:cNvSpPr/>
          <p:nvPr/>
        </p:nvSpPr>
        <p:spPr>
          <a:xfrm>
            <a:off x="6485467" y="3543300"/>
            <a:ext cx="2239433" cy="355600"/>
          </a:xfrm>
          <a:prstGeom prst="roundRect">
            <a:avLst>
              <a:gd name="adj" fmla="val 5000"/>
            </a:avLst>
          </a:prstGeom>
          <a:solidFill>
            <a:srgbClr val="E8F0FB"/>
          </a:solidFill>
          <a:ln w="12700">
            <a:solidFill>
              <a:srgbClr val="BBD6F5"/>
            </a:solidFill>
            <a:prstDash val="dash"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250A8"/>
                </a:solidFill>
                <a:latin typeface="Verdana"/>
              </a:rPr>
              <a:t>future domain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1250A8"/>
                </a:solidFill>
                <a:latin typeface="Verdana"/>
              </a:rPr>
              <a:t>added by configuration</a:t>
            </a:r>
          </a:p>
        </p:txBody>
      </p:sp>
      <p:sp>
        <p:nvSpPr>
          <p:cNvPr id="430" name="s430"/>
          <p:cNvSpPr/>
          <p:nvPr/>
        </p:nvSpPr>
        <p:spPr>
          <a:xfrm>
            <a:off x="317500" y="4013200"/>
            <a:ext cx="8509000" cy="482600"/>
          </a:xfrm>
          <a:prstGeom prst="roundRect">
            <a:avLst>
              <a:gd name="adj" fmla="val 5000"/>
            </a:avLst>
          </a:prstGeom>
          <a:noFill/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431" name="s431"/>
          <p:cNvSpPr/>
          <p:nvPr/>
        </p:nvSpPr>
        <p:spPr>
          <a:xfrm>
            <a:off x="419100" y="4013200"/>
            <a:ext cx="13208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447000"/>
                </a:solidFill>
                <a:latin typeface="Verdana"/>
              </a:rPr>
              <a:t>7 · One definition
per tool</a:t>
            </a:r>
          </a:p>
        </p:txBody>
      </p:sp>
      <p:sp>
        <p:nvSpPr>
          <p:cNvPr id="432" name="s432"/>
          <p:cNvSpPr/>
          <p:nvPr/>
        </p:nvSpPr>
        <p:spPr>
          <a:xfrm>
            <a:off x="1854200" y="4076700"/>
            <a:ext cx="1323340" cy="355600"/>
          </a:xfrm>
          <a:prstGeom prst="roundRect">
            <a:avLst>
              <a:gd name="adj" fmla="val 5000"/>
            </a:avLst>
          </a:prstGeom>
          <a:solidFill>
            <a:srgbClr val="E8F0FB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250A8"/>
                </a:solidFill>
                <a:latin typeface="Verdana"/>
              </a:rPr>
              <a:t>src/tools.py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1250A8"/>
                </a:solidFill>
                <a:latin typeface="Verdana"/>
              </a:rPr>
              <a:t>ToolSpec</a:t>
            </a:r>
          </a:p>
        </p:txBody>
      </p:sp>
      <p:sp>
        <p:nvSpPr>
          <p:cNvPr id="433" name="s433"/>
          <p:cNvSpPr/>
          <p:nvPr/>
        </p:nvSpPr>
        <p:spPr>
          <a:xfrm>
            <a:off x="3241040" y="4076700"/>
            <a:ext cx="1323340" cy="355600"/>
          </a:xfrm>
          <a:prstGeom prst="roundRect">
            <a:avLst>
              <a:gd name="adj" fmla="val 5000"/>
            </a:avLst>
          </a:prstGeom>
          <a:solidFill>
            <a:srgbClr val="E4F0DC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Thinker prompt</a:t>
            </a:r>
          </a:p>
        </p:txBody>
      </p:sp>
      <p:sp>
        <p:nvSpPr>
          <p:cNvPr id="434" name="s434"/>
          <p:cNvSpPr/>
          <p:nvPr/>
        </p:nvSpPr>
        <p:spPr>
          <a:xfrm>
            <a:off x="4627880" y="4076700"/>
            <a:ext cx="1323340" cy="355600"/>
          </a:xfrm>
          <a:prstGeom prst="roundRect">
            <a:avLst>
              <a:gd name="adj" fmla="val 5000"/>
            </a:avLst>
          </a:prstGeom>
          <a:solidFill>
            <a:srgbClr val="E4F0DC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Input validation</a:t>
            </a:r>
          </a:p>
        </p:txBody>
      </p:sp>
      <p:sp>
        <p:nvSpPr>
          <p:cNvPr id="435" name="s435"/>
          <p:cNvSpPr/>
          <p:nvPr/>
        </p:nvSpPr>
        <p:spPr>
          <a:xfrm>
            <a:off x="6014720" y="4076700"/>
            <a:ext cx="1323340" cy="355600"/>
          </a:xfrm>
          <a:prstGeom prst="roundRect">
            <a:avLst>
              <a:gd name="adj" fmla="val 5000"/>
            </a:avLst>
          </a:prstGeom>
          <a:solidFill>
            <a:srgbClr val="E4F0DC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Execution</a:t>
            </a:r>
          </a:p>
        </p:txBody>
      </p:sp>
      <p:sp>
        <p:nvSpPr>
          <p:cNvPr id="436" name="s436"/>
          <p:cNvSpPr/>
          <p:nvPr/>
        </p:nvSpPr>
        <p:spPr>
          <a:xfrm>
            <a:off x="7401560" y="4076700"/>
            <a:ext cx="1323340" cy="355600"/>
          </a:xfrm>
          <a:prstGeom prst="roundRect">
            <a:avLst>
              <a:gd name="adj" fmla="val 5000"/>
            </a:avLst>
          </a:prstGeom>
          <a:solidFill>
            <a:srgbClr val="E4F0DC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Speech</a:t>
            </a:r>
          </a:p>
        </p:txBody>
      </p:sp>
      <p:sp>
        <p:nvSpPr>
          <p:cNvPr id="437" name="s437"/>
          <p:cNvSpPr/>
          <p:nvPr/>
        </p:nvSpPr>
        <p:spPr>
          <a:xfrm>
            <a:off x="317500" y="4597400"/>
            <a:ext cx="8509000" cy="127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438" name="s438"/>
          <p:cNvSpPr/>
          <p:nvPr/>
        </p:nvSpPr>
        <p:spPr>
          <a:xfrm>
            <a:off x="317500" y="4699000"/>
            <a:ext cx="51435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250A8"/>
                </a:solidFill>
                <a:latin typeface="Verdana"/>
              </a:rPr>
              <a:t>blue · new module        dashed · added by configuration</a:t>
            </a:r>
          </a:p>
        </p:txBody>
      </p:sp>
      <p:sp>
        <p:nvSpPr>
          <p:cNvPr id="439" name="s439"/>
          <p:cNvSpPr/>
          <p:nvPr/>
        </p:nvSpPr>
        <p:spPr>
          <a:xfrm>
            <a:off x="5651500" y="4699000"/>
            <a:ext cx="3175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9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Verdana"/>
              </a:rPr>
              <a:t>Nemotron Voice Agent  ·  generated 2026-08-26</a:t>
            </a:r>
          </a:p>
        </p:txBody>
      </p:sp>
      <p:sp>
        <p:nvSpPr>
          <p:cNvPr id="800" name="r800"/>
          <p:cNvSpPr/>
          <p:nvPr/>
        </p:nvSpPr>
        <p:spPr>
          <a:xfrm>
            <a:off x="1854200" y="927100"/>
            <a:ext cx="2239433" cy="33020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1" name="r801"/>
          <p:cNvSpPr/>
          <p:nvPr/>
        </p:nvSpPr>
        <p:spPr>
          <a:xfrm>
            <a:off x="4169833" y="927100"/>
            <a:ext cx="2239433" cy="33020"/>
          </a:xfrm>
          <a:prstGeom prst="rect">
            <a:avLst/>
          </a:prstGeom>
          <a:solidFill>
            <a:srgbClr val="1689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2" name="r802"/>
          <p:cNvSpPr/>
          <p:nvPr/>
        </p:nvSpPr>
        <p:spPr>
          <a:xfrm>
            <a:off x="6485467" y="927100"/>
            <a:ext cx="2239433" cy="33020"/>
          </a:xfrm>
          <a:prstGeom prst="rect">
            <a:avLst/>
          </a:prstGeom>
          <a:solidFill>
            <a:srgbClr val="1689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3" name="r803"/>
          <p:cNvSpPr/>
          <p:nvPr/>
        </p:nvSpPr>
        <p:spPr>
          <a:xfrm>
            <a:off x="1854200" y="1460500"/>
            <a:ext cx="2239433" cy="33020"/>
          </a:xfrm>
          <a:prstGeom prst="rect">
            <a:avLst/>
          </a:prstGeom>
          <a:solidFill>
            <a:srgbClr val="7A5A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4" name="r804"/>
          <p:cNvSpPr/>
          <p:nvPr/>
        </p:nvSpPr>
        <p:spPr>
          <a:xfrm>
            <a:off x="4169833" y="1460500"/>
            <a:ext cx="2239433" cy="33020"/>
          </a:xfrm>
          <a:prstGeom prst="rect">
            <a:avLst/>
          </a:prstGeom>
          <a:solidFill>
            <a:srgbClr val="7A5A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5" name="r805"/>
          <p:cNvSpPr/>
          <p:nvPr/>
        </p:nvSpPr>
        <p:spPr>
          <a:xfrm>
            <a:off x="6485467" y="1460500"/>
            <a:ext cx="2239433" cy="33020"/>
          </a:xfrm>
          <a:prstGeom prst="rect">
            <a:avLst/>
          </a:prstGeom>
          <a:solidFill>
            <a:srgbClr val="7A5A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6" name="r806"/>
          <p:cNvSpPr/>
          <p:nvPr/>
        </p:nvSpPr>
        <p:spPr>
          <a:xfrm>
            <a:off x="1854200" y="1993900"/>
            <a:ext cx="3397250" cy="3302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7" name="r807"/>
          <p:cNvSpPr/>
          <p:nvPr/>
        </p:nvSpPr>
        <p:spPr>
          <a:xfrm>
            <a:off x="5327650" y="1993900"/>
            <a:ext cx="3397250" cy="3302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8" name="r808"/>
          <p:cNvSpPr/>
          <p:nvPr/>
        </p:nvSpPr>
        <p:spPr>
          <a:xfrm>
            <a:off x="1854200" y="2527300"/>
            <a:ext cx="3397250" cy="33020"/>
          </a:xfrm>
          <a:prstGeom prst="rect">
            <a:avLst/>
          </a:prstGeom>
          <a:solidFill>
            <a:srgbClr val="5C9A1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9" name="r809"/>
          <p:cNvSpPr/>
          <p:nvPr/>
        </p:nvSpPr>
        <p:spPr>
          <a:xfrm>
            <a:off x="5327650" y="2527300"/>
            <a:ext cx="3397250" cy="33020"/>
          </a:xfrm>
          <a:prstGeom prst="rect">
            <a:avLst/>
          </a:prstGeom>
          <a:solidFill>
            <a:srgbClr val="5C9A1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0" name="r810"/>
          <p:cNvSpPr/>
          <p:nvPr/>
        </p:nvSpPr>
        <p:spPr>
          <a:xfrm>
            <a:off x="3378200" y="3048000"/>
            <a:ext cx="3810000" cy="33020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1" name="r811"/>
          <p:cNvSpPr/>
          <p:nvPr/>
        </p:nvSpPr>
        <p:spPr>
          <a:xfrm>
            <a:off x="1854200" y="3543300"/>
            <a:ext cx="2239433" cy="33020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2" name="r812"/>
          <p:cNvSpPr/>
          <p:nvPr/>
        </p:nvSpPr>
        <p:spPr>
          <a:xfrm>
            <a:off x="4169833" y="3543300"/>
            <a:ext cx="2239433" cy="33020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3" name="r813"/>
          <p:cNvSpPr/>
          <p:nvPr/>
        </p:nvSpPr>
        <p:spPr>
          <a:xfrm>
            <a:off x="6485467" y="3543300"/>
            <a:ext cx="2239433" cy="33020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4" name="r814"/>
          <p:cNvSpPr/>
          <p:nvPr/>
        </p:nvSpPr>
        <p:spPr>
          <a:xfrm>
            <a:off x="1854200" y="4076700"/>
            <a:ext cx="1323340" cy="33020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5" name="r815"/>
          <p:cNvSpPr/>
          <p:nvPr/>
        </p:nvSpPr>
        <p:spPr>
          <a:xfrm>
            <a:off x="3241040" y="4076700"/>
            <a:ext cx="1323340" cy="33020"/>
          </a:xfrm>
          <a:prstGeom prst="rect">
            <a:avLst/>
          </a:prstGeom>
          <a:solidFill>
            <a:srgbClr val="2F6B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6" name="r816"/>
          <p:cNvSpPr/>
          <p:nvPr/>
        </p:nvSpPr>
        <p:spPr>
          <a:xfrm>
            <a:off x="4627880" y="4076700"/>
            <a:ext cx="1323340" cy="33020"/>
          </a:xfrm>
          <a:prstGeom prst="rect">
            <a:avLst/>
          </a:prstGeom>
          <a:solidFill>
            <a:srgbClr val="2F6B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7" name="r817"/>
          <p:cNvSpPr/>
          <p:nvPr/>
        </p:nvSpPr>
        <p:spPr>
          <a:xfrm>
            <a:off x="6014720" y="4076700"/>
            <a:ext cx="1323340" cy="33020"/>
          </a:xfrm>
          <a:prstGeom prst="rect">
            <a:avLst/>
          </a:prstGeom>
          <a:solidFill>
            <a:srgbClr val="2F6B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8" name="r818"/>
          <p:cNvSpPr/>
          <p:nvPr/>
        </p:nvSpPr>
        <p:spPr>
          <a:xfrm>
            <a:off x="7401560" y="4076700"/>
            <a:ext cx="1323340" cy="33020"/>
          </a:xfrm>
          <a:prstGeom prst="rect">
            <a:avLst/>
          </a:prstGeom>
          <a:solidFill>
            <a:srgbClr val="2F6B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777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s500"/>
          <p:cNvSpPr/>
          <p:nvPr/>
        </p:nvSpPr>
        <p:spPr>
          <a:xfrm>
            <a:off x="0" y="0"/>
            <a:ext cx="9144000" cy="50800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501" name="s501"/>
          <p:cNvSpPr/>
          <p:nvPr/>
        </p:nvSpPr>
        <p:spPr>
          <a:xfrm>
            <a:off x="317500" y="152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650" b="1" spc="180" dirty="0">
                <a:solidFill>
                  <a:srgbClr val="447000"/>
                </a:solidFill>
                <a:latin typeface="Verdana"/>
              </a:rPr>
              <a:t>NEMOTRON VOICE AGENT</a:t>
            </a:r>
          </a:p>
        </p:txBody>
      </p:sp>
      <p:sp>
        <p:nvSpPr>
          <p:cNvPr id="502" name="s502"/>
          <p:cNvSpPr/>
          <p:nvPr/>
        </p:nvSpPr>
        <p:spPr>
          <a:xfrm>
            <a:off x="317500" y="33020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Verdana"/>
              </a:rPr>
              <a:t>Schematic request flow</a:t>
            </a:r>
          </a:p>
        </p:txBody>
      </p:sp>
      <p:sp>
        <p:nvSpPr>
          <p:cNvPr id="503" name="s503"/>
          <p:cNvSpPr/>
          <p:nvPr/>
        </p:nvSpPr>
        <p:spPr>
          <a:xfrm>
            <a:off x="317500" y="6604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Verdana"/>
              </a:rPr>
              <a:t>One delegated turn — request across the top, grounded response returns below</a:t>
            </a:r>
          </a:p>
        </p:txBody>
      </p:sp>
      <p:sp>
        <p:nvSpPr>
          <p:cNvPr id="504" name="s504"/>
          <p:cNvSpPr/>
          <p:nvPr/>
        </p:nvSpPr>
        <p:spPr>
          <a:xfrm>
            <a:off x="5778500" y="279400"/>
            <a:ext cx="3048000" cy="533400"/>
          </a:xfrm>
          <a:prstGeom prst="roundRect">
            <a:avLst>
              <a:gd name="adj" fmla="val 5000"/>
            </a:avLst>
          </a:prstGeom>
          <a:solidFill>
            <a:srgbClr val="FDF0DC"/>
          </a:solidFill>
          <a:ln w="12700">
            <a:noFill/>
          </a:ln>
        </p:spPr>
        <p:txBody>
          <a:bodyPr wrap="square" lIns="76200" tIns="38100" rIns="76200" bIns="381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447000"/>
                </a:solidFill>
                <a:latin typeface="Verdana"/>
              </a:rPr>
              <a:t>Trusted configuration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Talker · Lightning · 512 tok · temp 0.2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Thinker · Super 120B · budget 1024 · temp 0.0</a:t>
            </a:r>
          </a:p>
        </p:txBody>
      </p:sp>
      <p:sp>
        <p:nvSpPr>
          <p:cNvPr id="505" name="s505"/>
          <p:cNvSpPr/>
          <p:nvPr/>
        </p:nvSpPr>
        <p:spPr>
          <a:xfrm>
            <a:off x="317500" y="9144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750" b="1" spc="80" dirty="0">
                <a:solidFill>
                  <a:srgbClr val="447000"/>
                </a:solidFill>
                <a:latin typeface="Verdana"/>
              </a:rPr>
              <a:t>1  ·  FRONTEND REQUEST</a:t>
            </a:r>
          </a:p>
        </p:txBody>
      </p:sp>
      <p:sp>
        <p:nvSpPr>
          <p:cNvPr id="506" name="s506"/>
          <p:cNvSpPr/>
          <p:nvPr/>
        </p:nvSpPr>
        <p:spPr>
          <a:xfrm>
            <a:off x="317500" y="1092200"/>
            <a:ext cx="1559560" cy="457200"/>
          </a:xfrm>
          <a:prstGeom prst="roundRect">
            <a:avLst>
              <a:gd name="adj" fmla="val 5000"/>
            </a:avLst>
          </a:prstGeom>
          <a:solidFill>
            <a:srgbClr val="DCF0EC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User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voice</a:t>
            </a:r>
          </a:p>
        </p:txBody>
      </p:sp>
      <p:sp>
        <p:nvSpPr>
          <p:cNvPr id="507" name="s507"/>
          <p:cNvSpPr/>
          <p:nvPr/>
        </p:nvSpPr>
        <p:spPr>
          <a:xfrm>
            <a:off x="1902460" y="1263650"/>
            <a:ext cx="127000" cy="11430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508" name="s508"/>
          <p:cNvSpPr/>
          <p:nvPr/>
        </p:nvSpPr>
        <p:spPr>
          <a:xfrm>
            <a:off x="2054860" y="1092200"/>
            <a:ext cx="1559560" cy="457200"/>
          </a:xfrm>
          <a:prstGeom prst="roundRect">
            <a:avLst>
              <a:gd name="adj" fmla="val 5000"/>
            </a:avLst>
          </a:prstGeom>
          <a:solidFill>
            <a:srgbClr val="DCF0EC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Streaming ASR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speech → transcript</a:t>
            </a:r>
          </a:p>
        </p:txBody>
      </p:sp>
      <p:sp>
        <p:nvSpPr>
          <p:cNvPr id="509" name="s509"/>
          <p:cNvSpPr/>
          <p:nvPr/>
        </p:nvSpPr>
        <p:spPr>
          <a:xfrm>
            <a:off x="3639820" y="1263650"/>
            <a:ext cx="127000" cy="11430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510" name="s510"/>
          <p:cNvSpPr/>
          <p:nvPr/>
        </p:nvSpPr>
        <p:spPr>
          <a:xfrm>
            <a:off x="3792220" y="1092200"/>
            <a:ext cx="1559560" cy="457200"/>
          </a:xfrm>
          <a:prstGeom prst="roundRect">
            <a:avLst>
              <a:gd name="adj" fmla="val 5000"/>
            </a:avLst>
          </a:prstGeom>
          <a:solidFill>
            <a:srgbClr val="E8F0FB"/>
          </a:solidFill>
          <a:ln w="1905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250A8"/>
                </a:solidFill>
                <a:latin typeface="Verdana"/>
              </a:rPr>
              <a:t>Lightning Talker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1250A8"/>
                </a:solidFill>
                <a:latin typeface="Verdana"/>
              </a:rPr>
              <a:t>reasoning OFF</a:t>
            </a:r>
          </a:p>
        </p:txBody>
      </p:sp>
      <p:sp>
        <p:nvSpPr>
          <p:cNvPr id="511" name="s511"/>
          <p:cNvSpPr/>
          <p:nvPr/>
        </p:nvSpPr>
        <p:spPr>
          <a:xfrm>
            <a:off x="5377180" y="1263650"/>
            <a:ext cx="127000" cy="11430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512" name="s512"/>
          <p:cNvSpPr/>
          <p:nvPr/>
        </p:nvSpPr>
        <p:spPr>
          <a:xfrm>
            <a:off x="5529580" y="1092200"/>
            <a:ext cx="1559560" cy="457200"/>
          </a:xfrm>
          <a:prstGeom prst="roundRect">
            <a:avLst>
              <a:gd name="adj" fmla="val 5000"/>
            </a:avLst>
          </a:prstGeom>
          <a:solidFill>
            <a:srgbClr val="DCF0EC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call_backend()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Talker tool boundary</a:t>
            </a:r>
          </a:p>
        </p:txBody>
      </p:sp>
      <p:sp>
        <p:nvSpPr>
          <p:cNvPr id="513" name="s513"/>
          <p:cNvSpPr/>
          <p:nvPr/>
        </p:nvSpPr>
        <p:spPr>
          <a:xfrm>
            <a:off x="7114540" y="1263650"/>
            <a:ext cx="127000" cy="11430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514" name="s514"/>
          <p:cNvSpPr/>
          <p:nvPr/>
        </p:nvSpPr>
        <p:spPr>
          <a:xfrm>
            <a:off x="7266940" y="1092200"/>
            <a:ext cx="1559560" cy="457200"/>
          </a:xfrm>
          <a:prstGeom prst="roundRect">
            <a:avLst>
              <a:gd name="adj" fmla="val 5000"/>
            </a:avLst>
          </a:prstGeom>
          <a:solidFill>
            <a:srgbClr val="DCF0EC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Domain backend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lifecycle + orchestration</a:t>
            </a:r>
          </a:p>
        </p:txBody>
      </p:sp>
      <p:sp>
        <p:nvSpPr>
          <p:cNvPr id="515" name="s515"/>
          <p:cNvSpPr/>
          <p:nvPr/>
        </p:nvSpPr>
        <p:spPr>
          <a:xfrm>
            <a:off x="7988300" y="1574800"/>
            <a:ext cx="114300" cy="127000"/>
          </a:xfrm>
          <a:prstGeom prst="downArrow">
            <a:avLst/>
          </a:prstGeom>
          <a:solidFill>
            <a:srgbClr val="76B900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516" name="s516"/>
          <p:cNvSpPr/>
          <p:nvPr/>
        </p:nvSpPr>
        <p:spPr>
          <a:xfrm>
            <a:off x="4572000" y="1562100"/>
            <a:ext cx="3276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90000"/>
              </a:lnSpc>
              <a:buNone/>
            </a:pPr>
            <a:r>
              <a:rPr lang="en-US" sz="650" dirty="0">
                <a:solidFill>
                  <a:srgbClr val="1250A8"/>
                </a:solidFill>
                <a:latin typeface="Verdana"/>
              </a:rPr>
              <a:t>plan(query, enabled_tools)</a:t>
            </a:r>
          </a:p>
        </p:txBody>
      </p:sp>
      <p:sp>
        <p:nvSpPr>
          <p:cNvPr id="517" name="s517"/>
          <p:cNvSpPr/>
          <p:nvPr/>
        </p:nvSpPr>
        <p:spPr>
          <a:xfrm>
            <a:off x="317500" y="17780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750" b="1" spc="80" dirty="0">
                <a:solidFill>
                  <a:srgbClr val="447000"/>
                </a:solidFill>
                <a:latin typeface="Verdana"/>
              </a:rPr>
              <a:t>2  ·  PLAN AND EXECUTE</a:t>
            </a:r>
          </a:p>
        </p:txBody>
      </p:sp>
      <p:sp>
        <p:nvSpPr>
          <p:cNvPr id="518" name="s518"/>
          <p:cNvSpPr/>
          <p:nvPr/>
        </p:nvSpPr>
        <p:spPr>
          <a:xfrm>
            <a:off x="317500" y="1955800"/>
            <a:ext cx="1993900" cy="558800"/>
          </a:xfrm>
          <a:prstGeom prst="roundRect">
            <a:avLst>
              <a:gd name="adj" fmla="val 5000"/>
            </a:avLst>
          </a:prstGeom>
          <a:solidFill>
            <a:srgbClr val="E8F0FB"/>
          </a:solidFill>
          <a:ln w="1905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250A8"/>
                </a:solidFill>
                <a:latin typeface="Verdana"/>
              </a:rPr>
              <a:t>Super Thinker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1250A8"/>
                </a:solidFill>
                <a:latin typeface="Verdana"/>
              </a:rPr>
              <a:t>reasoning ON · plan only</a:t>
            </a:r>
          </a:p>
        </p:txBody>
      </p:sp>
      <p:sp>
        <p:nvSpPr>
          <p:cNvPr id="519" name="s519"/>
          <p:cNvSpPr/>
          <p:nvPr/>
        </p:nvSpPr>
        <p:spPr>
          <a:xfrm>
            <a:off x="2336800" y="2178050"/>
            <a:ext cx="127000" cy="11430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520" name="s520"/>
          <p:cNvSpPr/>
          <p:nvPr/>
        </p:nvSpPr>
        <p:spPr>
          <a:xfrm>
            <a:off x="2489200" y="1955800"/>
            <a:ext cx="1993900" cy="558800"/>
          </a:xfrm>
          <a:prstGeom prst="roundRect">
            <a:avLst>
              <a:gd name="adj" fmla="val 5000"/>
            </a:avLst>
          </a:prstGeom>
          <a:solidFill>
            <a:srgbClr val="EDE7F8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JSON plan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unexecuted</a:t>
            </a:r>
          </a:p>
        </p:txBody>
      </p:sp>
      <p:sp>
        <p:nvSpPr>
          <p:cNvPr id="521" name="s521"/>
          <p:cNvSpPr/>
          <p:nvPr/>
        </p:nvSpPr>
        <p:spPr>
          <a:xfrm>
            <a:off x="4508500" y="2178050"/>
            <a:ext cx="127000" cy="11430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522" name="s522"/>
          <p:cNvSpPr/>
          <p:nvPr/>
        </p:nvSpPr>
        <p:spPr>
          <a:xfrm>
            <a:off x="4660900" y="1955800"/>
            <a:ext cx="1993900" cy="558800"/>
          </a:xfrm>
          <a:prstGeom prst="roundRect">
            <a:avLst>
              <a:gd name="adj" fmla="val 5000"/>
            </a:avLst>
          </a:prstGeom>
          <a:solidFill>
            <a:srgbClr val="EDE7F8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Validate entire plan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enabled tools only · arguments checked · maximum 3 calls</a:t>
            </a:r>
          </a:p>
        </p:txBody>
      </p:sp>
      <p:sp>
        <p:nvSpPr>
          <p:cNvPr id="523" name="s523"/>
          <p:cNvSpPr/>
          <p:nvPr/>
        </p:nvSpPr>
        <p:spPr>
          <a:xfrm>
            <a:off x="6680200" y="2178050"/>
            <a:ext cx="127000" cy="11430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524" name="s524"/>
          <p:cNvSpPr/>
          <p:nvPr/>
        </p:nvSpPr>
        <p:spPr>
          <a:xfrm>
            <a:off x="6832600" y="1955800"/>
            <a:ext cx="1993900" cy="558800"/>
          </a:xfrm>
          <a:prstGeom prst="roundRect">
            <a:avLst>
              <a:gd name="adj" fmla="val 5000"/>
            </a:avLst>
          </a:prstGeom>
          <a:solidFill>
            <a:srgbClr val="EDE7F8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Available tools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WeatherAPI · Finnhub · Perplexity · BMI</a:t>
            </a:r>
          </a:p>
        </p:txBody>
      </p:sp>
      <p:sp>
        <p:nvSpPr>
          <p:cNvPr id="525" name="s525"/>
          <p:cNvSpPr/>
          <p:nvPr/>
        </p:nvSpPr>
        <p:spPr>
          <a:xfrm>
            <a:off x="317500" y="2590800"/>
            <a:ext cx="1993900" cy="381000"/>
          </a:xfrm>
          <a:prstGeom prst="roundRect">
            <a:avLst>
              <a:gd name="adj" fmla="val 5000"/>
            </a:avLst>
          </a:prstGeom>
          <a:solidFill>
            <a:srgbClr val="E8F0FB"/>
          </a:solidFill>
          <a:ln w="1905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250A8"/>
                </a:solidFill>
                <a:latin typeface="Verdana"/>
              </a:rPr>
              <a:t>0.3 s filler timer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1250A8"/>
                </a:solidFill>
                <a:latin typeface="Verdana"/>
              </a:rPr>
              <a:t>concurrent branch</a:t>
            </a:r>
          </a:p>
        </p:txBody>
      </p:sp>
      <p:sp>
        <p:nvSpPr>
          <p:cNvPr id="526" name="s526"/>
          <p:cNvSpPr/>
          <p:nvPr/>
        </p:nvSpPr>
        <p:spPr>
          <a:xfrm>
            <a:off x="2336800" y="2730500"/>
            <a:ext cx="127000" cy="11430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527" name="s527"/>
          <p:cNvSpPr/>
          <p:nvPr/>
        </p:nvSpPr>
        <p:spPr>
          <a:xfrm>
            <a:off x="2489200" y="2590800"/>
            <a:ext cx="1993900" cy="381000"/>
          </a:xfrm>
          <a:prstGeom prst="roundRect">
            <a:avLst>
              <a:gd name="adj" fmla="val 5000"/>
            </a:avLst>
          </a:prstGeom>
          <a:solidFill>
            <a:srgbClr val="E8F0FB"/>
          </a:solidFill>
          <a:ln w="1905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250A8"/>
                </a:solidFill>
                <a:latin typeface="Verdana"/>
              </a:rPr>
              <a:t>Filler speech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1250A8"/>
                </a:solidFill>
                <a:latin typeface="Verdana"/>
              </a:rPr>
              <a:t>only while waiting</a:t>
            </a:r>
          </a:p>
        </p:txBody>
      </p:sp>
      <p:sp>
        <p:nvSpPr>
          <p:cNvPr id="528" name="s528"/>
          <p:cNvSpPr/>
          <p:nvPr/>
        </p:nvSpPr>
        <p:spPr>
          <a:xfrm>
            <a:off x="4597400" y="2590800"/>
            <a:ext cx="42291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Filler only plays if the plan takes longer than 0.3 s — the grounded payload cancels it.</a:t>
            </a:r>
          </a:p>
        </p:txBody>
      </p:sp>
      <p:sp>
        <p:nvSpPr>
          <p:cNvPr id="529" name="s529"/>
          <p:cNvSpPr/>
          <p:nvPr/>
        </p:nvSpPr>
        <p:spPr>
          <a:xfrm>
            <a:off x="7988300" y="3022600"/>
            <a:ext cx="114300" cy="127000"/>
          </a:xfrm>
          <a:prstGeom prst="downArrow">
            <a:avLst/>
          </a:prstGeom>
          <a:solidFill>
            <a:srgbClr val="76B900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530" name="s530"/>
          <p:cNvSpPr/>
          <p:nvPr/>
        </p:nvSpPr>
        <p:spPr>
          <a:xfrm>
            <a:off x="4572000" y="3009900"/>
            <a:ext cx="32766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90000"/>
              </a:lnSpc>
              <a:buNone/>
            </a:pPr>
            <a:r>
              <a:rPr lang="en-US" sz="650" dirty="0">
                <a:solidFill>
                  <a:srgbClr val="447000"/>
                </a:solidFill>
                <a:latin typeface="Verdana"/>
              </a:rPr>
              <a:t>raw service data</a:t>
            </a:r>
          </a:p>
        </p:txBody>
      </p:sp>
      <p:sp>
        <p:nvSpPr>
          <p:cNvPr id="531" name="s531"/>
          <p:cNvSpPr/>
          <p:nvPr/>
        </p:nvSpPr>
        <p:spPr>
          <a:xfrm>
            <a:off x="317500" y="3225800"/>
            <a:ext cx="508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750" b="1" spc="80" dirty="0">
                <a:solidFill>
                  <a:srgbClr val="447000"/>
                </a:solidFill>
                <a:latin typeface="Verdana"/>
              </a:rPr>
              <a:t>3  ·  GROUNDED RETURN</a:t>
            </a:r>
          </a:p>
        </p:txBody>
      </p:sp>
      <p:sp>
        <p:nvSpPr>
          <p:cNvPr id="532" name="s532"/>
          <p:cNvSpPr/>
          <p:nvPr/>
        </p:nvSpPr>
        <p:spPr>
          <a:xfrm>
            <a:off x="317500" y="3403600"/>
            <a:ext cx="1559560" cy="558800"/>
          </a:xfrm>
          <a:prstGeom prst="roundRect">
            <a:avLst>
              <a:gd name="adj" fmla="val 5000"/>
            </a:avLst>
          </a:prstGeom>
          <a:solidFill>
            <a:srgbClr val="EFF7E0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Deterministic formatter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validated args + service data · no second LLM call</a:t>
            </a:r>
          </a:p>
        </p:txBody>
      </p:sp>
      <p:sp>
        <p:nvSpPr>
          <p:cNvPr id="533" name="s533"/>
          <p:cNvSpPr/>
          <p:nvPr/>
        </p:nvSpPr>
        <p:spPr>
          <a:xfrm>
            <a:off x="1902460" y="3625850"/>
            <a:ext cx="127000" cy="11430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534" name="s534"/>
          <p:cNvSpPr/>
          <p:nvPr/>
        </p:nvSpPr>
        <p:spPr>
          <a:xfrm>
            <a:off x="2054860" y="3403600"/>
            <a:ext cx="1559560" cy="558800"/>
          </a:xfrm>
          <a:prstGeom prst="roundRect">
            <a:avLst>
              <a:gd name="adj" fmla="val 5000"/>
            </a:avLst>
          </a:prstGeom>
          <a:solidFill>
            <a:srgbClr val="EFF7E0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Grounded payload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response_text</a:t>
            </a:r>
          </a:p>
        </p:txBody>
      </p:sp>
      <p:sp>
        <p:nvSpPr>
          <p:cNvPr id="535" name="s535"/>
          <p:cNvSpPr/>
          <p:nvPr/>
        </p:nvSpPr>
        <p:spPr>
          <a:xfrm>
            <a:off x="3639820" y="3625850"/>
            <a:ext cx="127000" cy="11430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536" name="s536"/>
          <p:cNvSpPr/>
          <p:nvPr/>
        </p:nvSpPr>
        <p:spPr>
          <a:xfrm>
            <a:off x="3792220" y="3403600"/>
            <a:ext cx="1559560" cy="558800"/>
          </a:xfrm>
          <a:prstGeom prst="roundRect">
            <a:avLst>
              <a:gd name="adj" fmla="val 5000"/>
            </a:avLst>
          </a:prstGeom>
          <a:solidFill>
            <a:srgbClr val="E8F0FB"/>
          </a:solidFill>
          <a:ln w="1905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250A8"/>
                </a:solidFill>
                <a:latin typeface="Verdana"/>
              </a:rPr>
              <a:t>Lightning final response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1250A8"/>
                </a:solidFill>
                <a:latin typeface="Verdana"/>
              </a:rPr>
              <a:t>default re-entry</a:t>
            </a:r>
          </a:p>
        </p:txBody>
      </p:sp>
      <p:sp>
        <p:nvSpPr>
          <p:cNvPr id="537" name="s537"/>
          <p:cNvSpPr/>
          <p:nvPr/>
        </p:nvSpPr>
        <p:spPr>
          <a:xfrm>
            <a:off x="5377180" y="3625850"/>
            <a:ext cx="127000" cy="11430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538" name="s538"/>
          <p:cNvSpPr/>
          <p:nvPr/>
        </p:nvSpPr>
        <p:spPr>
          <a:xfrm>
            <a:off x="5529580" y="3403600"/>
            <a:ext cx="1559560" cy="558800"/>
          </a:xfrm>
          <a:prstGeom prst="roundRect">
            <a:avLst>
              <a:gd name="adj" fmla="val 5000"/>
            </a:avLst>
          </a:prstGeom>
          <a:solidFill>
            <a:srgbClr val="EFF7E0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Speech preparation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650" dirty="0">
                <a:solidFill>
                  <a:srgbClr val="6B7280"/>
                </a:solidFill>
                <a:latin typeface="Verdana"/>
              </a:rPr>
              <a:t>+ TTS</a:t>
            </a:r>
          </a:p>
        </p:txBody>
      </p:sp>
      <p:sp>
        <p:nvSpPr>
          <p:cNvPr id="539" name="s539"/>
          <p:cNvSpPr/>
          <p:nvPr/>
        </p:nvSpPr>
        <p:spPr>
          <a:xfrm>
            <a:off x="7114540" y="3625850"/>
            <a:ext cx="127000" cy="114300"/>
          </a:xfrm>
          <a:prstGeom prst="rightArrow">
            <a:avLst/>
          </a:prstGeom>
          <a:solidFill>
            <a:srgbClr val="76B900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540" name="s540"/>
          <p:cNvSpPr/>
          <p:nvPr/>
        </p:nvSpPr>
        <p:spPr>
          <a:xfrm>
            <a:off x="7266940" y="3403600"/>
            <a:ext cx="1559560" cy="558800"/>
          </a:xfrm>
          <a:prstGeom prst="roundRect">
            <a:avLst>
              <a:gd name="adj" fmla="val 5000"/>
            </a:avLst>
          </a:prstGeom>
          <a:solidFill>
            <a:srgbClr val="EFF7E0"/>
          </a:solidFill>
          <a:ln w="12700">
            <a:noFill/>
          </a:ln>
        </p:spPr>
        <p:txBody>
          <a:bodyPr wrap="square" lIns="50800" tIns="25400" rIns="50800" bIns="25400" anchor="ctr">
            <a:normAutofit/>
          </a:bodyPr>
          <a:lstStyle/>
          <a:p>
            <a:pPr algn="ctr">
              <a:lnSpc>
                <a:spcPct val="90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Verdana"/>
              </a:rPr>
              <a:t>User hears audio</a:t>
            </a:r>
          </a:p>
        </p:txBody>
      </p:sp>
      <p:sp>
        <p:nvSpPr>
          <p:cNvPr id="541" name="s541"/>
          <p:cNvSpPr/>
          <p:nvPr/>
        </p:nvSpPr>
        <p:spPr>
          <a:xfrm>
            <a:off x="317500" y="4597400"/>
            <a:ext cx="8509000" cy="127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wrap="square" lIns="50800" tIns="25400" rIns="50800" bIns="25400" anchor="ctr">
            <a:normAutofit fontScale="25000" lnSpcReduction="20000"/>
          </a:bodyPr>
          <a:lstStyle/>
          <a:p>
            <a:endParaRPr lang="en-US">
              <a:latin typeface="Verdana"/>
            </a:endParaRPr>
          </a:p>
        </p:txBody>
      </p:sp>
      <p:sp>
        <p:nvSpPr>
          <p:cNvPr id="542" name="s542"/>
          <p:cNvSpPr/>
          <p:nvPr/>
        </p:nvSpPr>
        <p:spPr>
          <a:xfrm>
            <a:off x="317500" y="4699000"/>
            <a:ext cx="51435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lang="en-US" sz="750" b="1" dirty="0">
                <a:solidFill>
                  <a:srgbClr val="1250A8"/>
                </a:solidFill>
                <a:latin typeface="Verdana"/>
              </a:rPr>
              <a:t>blue · model call        grounded service data only — no second generation</a:t>
            </a:r>
          </a:p>
        </p:txBody>
      </p:sp>
      <p:sp>
        <p:nvSpPr>
          <p:cNvPr id="543" name="s543"/>
          <p:cNvSpPr/>
          <p:nvPr/>
        </p:nvSpPr>
        <p:spPr>
          <a:xfrm>
            <a:off x="5651500" y="4699000"/>
            <a:ext cx="3175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9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Verdana"/>
              </a:rPr>
              <a:t>Nemotron Voice Agent  ·  generated 2026-08-26</a:t>
            </a:r>
          </a:p>
        </p:txBody>
      </p:sp>
      <p:sp>
        <p:nvSpPr>
          <p:cNvPr id="800" name="r800"/>
          <p:cNvSpPr/>
          <p:nvPr/>
        </p:nvSpPr>
        <p:spPr>
          <a:xfrm>
            <a:off x="317500" y="1092200"/>
            <a:ext cx="1559560" cy="33020"/>
          </a:xfrm>
          <a:prstGeom prst="rect">
            <a:avLst/>
          </a:prstGeom>
          <a:solidFill>
            <a:srgbClr val="1689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1" name="r801"/>
          <p:cNvSpPr/>
          <p:nvPr/>
        </p:nvSpPr>
        <p:spPr>
          <a:xfrm>
            <a:off x="2054860" y="1092200"/>
            <a:ext cx="1559560" cy="33020"/>
          </a:xfrm>
          <a:prstGeom prst="rect">
            <a:avLst/>
          </a:prstGeom>
          <a:solidFill>
            <a:srgbClr val="1689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2" name="r802"/>
          <p:cNvSpPr/>
          <p:nvPr/>
        </p:nvSpPr>
        <p:spPr>
          <a:xfrm>
            <a:off x="3792220" y="1092200"/>
            <a:ext cx="1559560" cy="33020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3" name="r803"/>
          <p:cNvSpPr/>
          <p:nvPr/>
        </p:nvSpPr>
        <p:spPr>
          <a:xfrm>
            <a:off x="5529580" y="1092200"/>
            <a:ext cx="1559560" cy="33020"/>
          </a:xfrm>
          <a:prstGeom prst="rect">
            <a:avLst/>
          </a:prstGeom>
          <a:solidFill>
            <a:srgbClr val="1689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4" name="r804"/>
          <p:cNvSpPr/>
          <p:nvPr/>
        </p:nvSpPr>
        <p:spPr>
          <a:xfrm>
            <a:off x="7266940" y="1092200"/>
            <a:ext cx="1559560" cy="33020"/>
          </a:xfrm>
          <a:prstGeom prst="rect">
            <a:avLst/>
          </a:prstGeom>
          <a:solidFill>
            <a:srgbClr val="16897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5" name="r805"/>
          <p:cNvSpPr/>
          <p:nvPr/>
        </p:nvSpPr>
        <p:spPr>
          <a:xfrm>
            <a:off x="317500" y="1955800"/>
            <a:ext cx="1993900" cy="33020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6" name="r806"/>
          <p:cNvSpPr/>
          <p:nvPr/>
        </p:nvSpPr>
        <p:spPr>
          <a:xfrm>
            <a:off x="2489200" y="1955800"/>
            <a:ext cx="1993900" cy="33020"/>
          </a:xfrm>
          <a:prstGeom prst="rect">
            <a:avLst/>
          </a:prstGeom>
          <a:solidFill>
            <a:srgbClr val="7A5A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7" name="r807"/>
          <p:cNvSpPr/>
          <p:nvPr/>
        </p:nvSpPr>
        <p:spPr>
          <a:xfrm>
            <a:off x="4660900" y="1955800"/>
            <a:ext cx="1993900" cy="33020"/>
          </a:xfrm>
          <a:prstGeom prst="rect">
            <a:avLst/>
          </a:prstGeom>
          <a:solidFill>
            <a:srgbClr val="7A5A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8" name="r808"/>
          <p:cNvSpPr/>
          <p:nvPr/>
        </p:nvSpPr>
        <p:spPr>
          <a:xfrm>
            <a:off x="6832600" y="1955800"/>
            <a:ext cx="1993900" cy="33020"/>
          </a:xfrm>
          <a:prstGeom prst="rect">
            <a:avLst/>
          </a:prstGeom>
          <a:solidFill>
            <a:srgbClr val="7A5A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9" name="r809"/>
          <p:cNvSpPr/>
          <p:nvPr/>
        </p:nvSpPr>
        <p:spPr>
          <a:xfrm>
            <a:off x="317500" y="2590800"/>
            <a:ext cx="1993900" cy="33020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0" name="r810"/>
          <p:cNvSpPr/>
          <p:nvPr/>
        </p:nvSpPr>
        <p:spPr>
          <a:xfrm>
            <a:off x="2489200" y="2590800"/>
            <a:ext cx="1993900" cy="33020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1" name="r811"/>
          <p:cNvSpPr/>
          <p:nvPr/>
        </p:nvSpPr>
        <p:spPr>
          <a:xfrm>
            <a:off x="317500" y="3403600"/>
            <a:ext cx="1559560" cy="33020"/>
          </a:xfrm>
          <a:prstGeom prst="rect">
            <a:avLst/>
          </a:prstGeom>
          <a:solidFill>
            <a:srgbClr val="5C9A1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2" name="r812"/>
          <p:cNvSpPr/>
          <p:nvPr/>
        </p:nvSpPr>
        <p:spPr>
          <a:xfrm>
            <a:off x="2054860" y="3403600"/>
            <a:ext cx="1559560" cy="33020"/>
          </a:xfrm>
          <a:prstGeom prst="rect">
            <a:avLst/>
          </a:prstGeom>
          <a:solidFill>
            <a:srgbClr val="5C9A1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3" name="r813"/>
          <p:cNvSpPr/>
          <p:nvPr/>
        </p:nvSpPr>
        <p:spPr>
          <a:xfrm>
            <a:off x="3792220" y="3403600"/>
            <a:ext cx="1559560" cy="33020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4" name="r814"/>
          <p:cNvSpPr/>
          <p:nvPr/>
        </p:nvSpPr>
        <p:spPr>
          <a:xfrm>
            <a:off x="5529580" y="3403600"/>
            <a:ext cx="1559560" cy="33020"/>
          </a:xfrm>
          <a:prstGeom prst="rect">
            <a:avLst/>
          </a:prstGeom>
          <a:solidFill>
            <a:srgbClr val="5C9A1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5" name="r815"/>
          <p:cNvSpPr/>
          <p:nvPr/>
        </p:nvSpPr>
        <p:spPr>
          <a:xfrm>
            <a:off x="7266940" y="3403600"/>
            <a:ext cx="1559560" cy="33020"/>
          </a:xfrm>
          <a:prstGeom prst="rect">
            <a:avLst/>
          </a:prstGeom>
          <a:solidFill>
            <a:srgbClr val="5C9A1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6" name="r816"/>
          <p:cNvSpPr/>
          <p:nvPr/>
        </p:nvSpPr>
        <p:spPr>
          <a:xfrm>
            <a:off x="5778500" y="279400"/>
            <a:ext cx="3048000" cy="33020"/>
          </a:xfrm>
          <a:prstGeom prst="rect">
            <a:avLst/>
          </a:prstGeom>
          <a:solidFill>
            <a:srgbClr val="D982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051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89F60-A170-376F-67C0-C696A6CD3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E97AC4-F319-6A86-F592-3B6B0AA68A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FC5403-8634-5123-0DE8-BFAD89379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871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3DA09-96AE-FAD8-09E0-670889282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AC100-EA84-E671-CE5B-3B7CF231BB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F6B1CF-DDA5-1BFC-5E67-2409DDC72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13944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 [1787734263489]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3082E26-43F3-6343-BB4A-6053B2346FE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f614d59-3364-4392-92d8-e113d01ac4a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807</Words>
  <Application>Microsoft Macintosh PowerPoint</Application>
  <PresentationFormat>On-screen Show (16:9)</PresentationFormat>
  <Paragraphs>178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Verdana</vt:lpstr>
      <vt:lpstr>Simple Light [1787734263489]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Nikhil Kulkarni (SW-TEGRA)</cp:lastModifiedBy>
  <cp:revision>2</cp:revision>
  <dcterms:modified xsi:type="dcterms:W3CDTF">2026-08-26T18:09:19Z</dcterms:modified>
</cp:coreProperties>
</file>